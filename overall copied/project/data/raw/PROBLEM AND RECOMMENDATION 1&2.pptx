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488" r:id="rId2"/>
    <p:sldId id="482" r:id="rId3"/>
    <p:sldId id="487" r:id="rId4"/>
    <p:sldId id="491" r:id="rId5"/>
    <p:sldId id="483" r:id="rId6"/>
    <p:sldId id="490" r:id="rId7"/>
    <p:sldId id="49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06" autoAdjust="0"/>
    <p:restoredTop sz="94660"/>
  </p:normalViewPr>
  <p:slideViewPr>
    <p:cSldViewPr snapToGrid="0">
      <p:cViewPr varScale="1">
        <p:scale>
          <a:sx n="83" d="100"/>
          <a:sy n="83" d="100"/>
        </p:scale>
        <p:origin x="390"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02C8B5C-8AD2-4703-B4A6-E18C9718A802}" type="datetimeFigureOut">
              <a:rPr lang="en-CA" smtClean="0"/>
              <a:t>2026-03-25</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6253B53-14DE-4837-AC70-5BE0C9A5FFD7}" type="slidenum">
              <a:rPr lang="en-CA" smtClean="0"/>
              <a:t>‹#›</a:t>
            </a:fld>
            <a:endParaRPr lang="en-CA"/>
          </a:p>
        </p:txBody>
      </p:sp>
    </p:spTree>
    <p:extLst>
      <p:ext uri="{BB962C8B-B14F-4D97-AF65-F5344CB8AC3E}">
        <p14:creationId xmlns:p14="http://schemas.microsoft.com/office/powerpoint/2010/main" val="40799403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a:t>
            </a:r>
          </a:p>
          <a:p>
            <a:r>
              <a:rPr lang="en-CA" dirty="0"/>
              <a:t>First, looking at our system's input, Canada currently operates as a high-volume </a:t>
            </a:r>
            <a:r>
              <a:rPr lang="en-CA" b="1" dirty="0"/>
              <a:t>global talent incubator</a:t>
            </a:r>
            <a:r>
              <a:rPr lang="en-CA" dirty="0"/>
              <a:t>. We successfully draw top-tier Machine Learning talent into our institutions initially, but we struggle to anchor them permanently."</a:t>
            </a:r>
          </a:p>
          <a:p>
            <a:r>
              <a:rPr lang="en-CA" dirty="0"/>
              <a:t>"This leads to our second point: a severe retention deficit. We face a </a:t>
            </a:r>
            <a:r>
              <a:rPr lang="en-CA" b="1" dirty="0"/>
              <a:t>20% attrition reality</a:t>
            </a:r>
            <a:r>
              <a:rPr lang="en-CA" dirty="0"/>
              <a:t>—one in five highly skilled professionals exits within their first five years, primarily in core technical fields."</a:t>
            </a:r>
          </a:p>
          <a:p>
            <a:r>
              <a:rPr lang="en-CA" dirty="0"/>
              <a:t>"The root cause is a structural bottleneck. Severe domestic salary ceilings and limited late-stage career pathways create a massive </a:t>
            </a:r>
            <a:r>
              <a:rPr lang="en-CA" b="1" dirty="0"/>
              <a:t>US Pull Factor</a:t>
            </a:r>
            <a:r>
              <a:rPr lang="en-CA" dirty="0"/>
              <a:t>, forcing a rapid exodus of our senior ML talent to American competitors."</a:t>
            </a:r>
          </a:p>
          <a:p>
            <a:r>
              <a:rPr lang="en-CA" dirty="0"/>
              <a:t>"</a:t>
            </a:r>
            <a:r>
              <a:rPr lang="en-CA" b="1" dirty="0"/>
              <a:t>In short:</a:t>
            </a:r>
            <a:r>
              <a:rPr lang="en-CA" dirty="0"/>
              <a:t> The charts prove that we are generating the human capital to meet our 37% demand spike, but our structural limits mean we are functionally subsidizing US tech innovation. We are building the capability, but losing the value.</a:t>
            </a:r>
            <a:endParaRPr lang="en-US" dirty="0"/>
          </a:p>
        </p:txBody>
      </p:sp>
      <p:sp>
        <p:nvSpPr>
          <p:cNvPr id="4" name="Slide Number Placeholder 3"/>
          <p:cNvSpPr>
            <a:spLocks noGrp="1"/>
          </p:cNvSpPr>
          <p:nvPr>
            <p:ph type="sldNum" sz="quarter" idx="5"/>
          </p:nvPr>
        </p:nvSpPr>
        <p:spPr/>
        <p:txBody>
          <a:bodyPr/>
          <a:lstStyle/>
          <a:p>
            <a:fld id="{C162EF7B-DDB8-B345-905A-1035F5FCAFD4}" type="slidenum">
              <a:rPr lang="en-US" smtClean="0"/>
              <a:t>2</a:t>
            </a:fld>
            <a:endParaRPr lang="en-US"/>
          </a:p>
        </p:txBody>
      </p:sp>
    </p:spTree>
    <p:extLst>
      <p:ext uri="{BB962C8B-B14F-4D97-AF65-F5344CB8AC3E}">
        <p14:creationId xmlns:p14="http://schemas.microsoft.com/office/powerpoint/2010/main" val="22748268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"To fix this paradox, we must pivot Canada from being just an incubator to a final destination. Recommendation 1 is to build </a:t>
            </a:r>
            <a:r>
              <a:rPr lang="en-CA" b="1" dirty="0"/>
              <a:t>Career Moats</a:t>
            </a:r>
            <a:r>
              <a:rPr lang="en-CA" dirty="0"/>
              <a:t> for our talent."</a:t>
            </a:r>
          </a:p>
          <a:p>
            <a:r>
              <a:rPr lang="en-CA" dirty="0"/>
              <a:t>"The objective is direct: attack the take-home pay gap and remove the remaining immigration friction. We achieve this through three action items: an </a:t>
            </a:r>
            <a:r>
              <a:rPr lang="en-CA" b="1" dirty="0"/>
              <a:t>Elite Equity Tax Exemption</a:t>
            </a:r>
            <a:r>
              <a:rPr lang="en-CA" dirty="0"/>
              <a:t> to mathematically align wealth-building with Silicon Valley, a </a:t>
            </a:r>
            <a:r>
              <a:rPr lang="en-CA" b="1" dirty="0"/>
              <a:t>1:1 Salary Matching</a:t>
            </a:r>
            <a:r>
              <a:rPr lang="en-CA" dirty="0"/>
              <a:t> mechanism to shatter the compensation ceiling, and an </a:t>
            </a:r>
            <a:r>
              <a:rPr lang="en-CA" b="1" dirty="0"/>
              <a:t>'AI Elite' Fast-Track Visa</a:t>
            </a:r>
            <a:r>
              <a:rPr lang="en-CA" dirty="0"/>
              <a:t> for frictionless permanent residency."</a:t>
            </a:r>
          </a:p>
          <a:p>
            <a:r>
              <a:rPr lang="en-CA" dirty="0"/>
              <a:t>"</a:t>
            </a:r>
            <a:r>
              <a:rPr lang="en-CA" b="1" dirty="0"/>
              <a:t>How do we pay for this without printing new money?</a:t>
            </a:r>
            <a:r>
              <a:rPr lang="en-CA" dirty="0"/>
              <a:t> Simple. Canada already has a massive R&amp;D tax rebate program called SR&amp;ED. Right now, it's slow and broad. We are simply taking a slice of that existing pie, and fast-tracking it to directly match the salaries of elite AI engineers. We are using money that’s already on the table, just spending it smarter to keep our best brains at home."</a:t>
            </a:r>
          </a:p>
          <a:p>
            <a:r>
              <a:rPr lang="en-CA" dirty="0"/>
              <a:t>"</a:t>
            </a:r>
            <a:r>
              <a:rPr lang="en-CA" b="1" dirty="0"/>
              <a:t>Finally, execution requires strict accountability.</a:t>
            </a:r>
            <a:r>
              <a:rPr lang="en-CA" dirty="0"/>
              <a:t> Subsidized companies MUST maintain core attrition below 15%. If a subsidized engineer relocates to the US, it triggers immediate funding suspension and full </a:t>
            </a:r>
            <a:r>
              <a:rPr lang="en-CA" dirty="0" err="1"/>
              <a:t>clawbacks</a:t>
            </a:r>
            <a:r>
              <a:rPr lang="en-CA" dirty="0"/>
              <a:t> of the tax subsidy. We subsidize retention, not departure."</a:t>
            </a:r>
          </a:p>
          <a:p>
            <a:endParaRPr lang="en-US" dirty="0"/>
          </a:p>
        </p:txBody>
      </p:sp>
      <p:sp>
        <p:nvSpPr>
          <p:cNvPr id="4" name="Slide Number Placeholder 3"/>
          <p:cNvSpPr>
            <a:spLocks noGrp="1"/>
          </p:cNvSpPr>
          <p:nvPr>
            <p:ph type="sldNum" sz="quarter" idx="5"/>
          </p:nvPr>
        </p:nvSpPr>
        <p:spPr/>
        <p:txBody>
          <a:bodyPr/>
          <a:lstStyle/>
          <a:p>
            <a:fld id="{C162EF7B-DDB8-B345-905A-1035F5FCAFD4}" type="slidenum">
              <a:rPr lang="en-US" smtClean="0"/>
              <a:t>3</a:t>
            </a:fld>
            <a:endParaRPr lang="en-US"/>
          </a:p>
        </p:txBody>
      </p:sp>
    </p:spTree>
    <p:extLst>
      <p:ext uri="{BB962C8B-B14F-4D97-AF65-F5344CB8AC3E}">
        <p14:creationId xmlns:p14="http://schemas.microsoft.com/office/powerpoint/2010/main" val="14278735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Sam</a:t>
            </a:r>
            <a:endParaRPr lang="en-CA" dirty="0"/>
          </a:p>
          <a:p>
            <a:r>
              <a:rPr lang="en-CA" dirty="0"/>
              <a:t>"The core thesis here is a structural mismatch. Canada generates world-class upstream innovation through our research institutions, but we completely fail to capture the downstream economic value."</a:t>
            </a:r>
          </a:p>
          <a:p>
            <a:r>
              <a:rPr lang="en-CA" dirty="0"/>
              <a:t>"This failure is driven by two distinct bottlenecks. First, weak commercialization pathways. Our firms are excellent at proving technical feasibility in isolated pilots, but struggle to convert them into repeatable revenue. Second, severe infrastructure constraints. Domestic firms simply lack access to the large-scale compute power needed to deploy and iterate AI models."</a:t>
            </a:r>
          </a:p>
          <a:p>
            <a:r>
              <a:rPr lang="en-CA" dirty="0"/>
              <a:t>"Please direct your attention to the chart on the right, which starkly illustrates this gap."</a:t>
            </a:r>
          </a:p>
          <a:p>
            <a:r>
              <a:rPr lang="en-CA" dirty="0"/>
              <a:t>"We are not just lagging; we are being dwarfed. Look at Phase 2, the capital phase. Canada’s AI ecosystem captures roughly $15 Billion. Contrast this with the United States at a massive $470 Billion. The magnitude of this gap makes domestic scaling mathematically nearly impossible under current conditions."</a:t>
            </a:r>
          </a:p>
          <a:p>
            <a:r>
              <a:rPr lang="en-CA" dirty="0"/>
              <a:t>"In short: We are successfully engineering the science, but failing to engineer the business. Without domestic compute and scaling capital, our innovations are born here, but cross the border to grow up."</a:t>
            </a:r>
          </a:p>
          <a:p>
            <a:endParaRPr lang="en-US" dirty="0"/>
          </a:p>
        </p:txBody>
      </p:sp>
      <p:sp>
        <p:nvSpPr>
          <p:cNvPr id="4" name="Slide Number Placeholder 3"/>
          <p:cNvSpPr>
            <a:spLocks noGrp="1"/>
          </p:cNvSpPr>
          <p:nvPr>
            <p:ph type="sldNum" sz="quarter" idx="5"/>
          </p:nvPr>
        </p:nvSpPr>
        <p:spPr/>
        <p:txBody>
          <a:bodyPr/>
          <a:lstStyle/>
          <a:p>
            <a:fld id="{C162EF7B-DDB8-B345-905A-1035F5FCAFD4}" type="slidenum">
              <a:rPr lang="en-US" smtClean="0"/>
              <a:t>5</a:t>
            </a:fld>
            <a:endParaRPr lang="en-US"/>
          </a:p>
        </p:txBody>
      </p:sp>
    </p:spTree>
    <p:extLst>
      <p:ext uri="{BB962C8B-B14F-4D97-AF65-F5344CB8AC3E}">
        <p14:creationId xmlns:p14="http://schemas.microsoft.com/office/powerpoint/2010/main" val="21720790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"To bridge this 'Valley of Death' and stop exporting our potential, we move to Recommendation 2: Building the conditions to actually scale AI in Canada."</a:t>
            </a:r>
          </a:p>
          <a:p>
            <a:r>
              <a:rPr lang="en-CA" dirty="0"/>
              <a:t>"The core objective is a necessary paradigm shift. We must turn AI research into AI companies, pivoting our focus from upstream creation to capturing downstream economic value."</a:t>
            </a:r>
          </a:p>
          <a:p>
            <a:r>
              <a:rPr lang="en-CA" dirty="0"/>
              <a:t>"We attack this through three action items: Expanding affordable compute access for local builders, accelerating domestic adoption to convert pilots into repeatable revenue, and strengthening later-stage capital to retain growth-stage firms."</a:t>
            </a:r>
          </a:p>
          <a:p>
            <a:r>
              <a:rPr lang="en-CA" dirty="0"/>
              <a:t>"The execution mechanism is agile. We bypass slow government grants and repurpose existing Budget 2024 capital. For the $2 Billion Compute Fund, we deploy it as direct utilization subsidies for domestic firms—we should not be wasting time building state-owned infrastructure. For the $200 Million Adoption Fund, we ring-fence it strictly for B2B procurement matching. We are essentially incentivizing our traditional industries to buy local AI."</a:t>
            </a:r>
          </a:p>
          <a:p>
            <a:r>
              <a:rPr lang="en-CA" dirty="0"/>
              <a:t>"Finally, we enforce strict accountability. Government programs must hit a hard metric: over 50% of subsidized pilots must convert into commercial contracts within 18 months. And the ultimate safeguard: if a firm relocates its HQ or core IP out of Canada, it triggers immediate and full funding </a:t>
            </a:r>
            <a:r>
              <a:rPr lang="en-CA" dirty="0" err="1"/>
              <a:t>clawbacks</a:t>
            </a:r>
            <a:r>
              <a:rPr lang="en-CA" dirty="0"/>
              <a:t>. We invest in domestic scaling, not foreign extraction."</a:t>
            </a:r>
          </a:p>
          <a:p>
            <a:endParaRPr lang="en-US" dirty="0"/>
          </a:p>
        </p:txBody>
      </p:sp>
      <p:sp>
        <p:nvSpPr>
          <p:cNvPr id="4" name="Slide Number Placeholder 3"/>
          <p:cNvSpPr>
            <a:spLocks noGrp="1"/>
          </p:cNvSpPr>
          <p:nvPr>
            <p:ph type="sldNum" sz="quarter" idx="5"/>
          </p:nvPr>
        </p:nvSpPr>
        <p:spPr/>
        <p:txBody>
          <a:bodyPr/>
          <a:lstStyle/>
          <a:p>
            <a:fld id="{C162EF7B-DDB8-B345-905A-1035F5FCAFD4}" type="slidenum">
              <a:rPr lang="en-US" smtClean="0"/>
              <a:t>6</a:t>
            </a:fld>
            <a:endParaRPr lang="en-US"/>
          </a:p>
        </p:txBody>
      </p:sp>
    </p:spTree>
    <p:extLst>
      <p:ext uri="{BB962C8B-B14F-4D97-AF65-F5344CB8AC3E}">
        <p14:creationId xmlns:p14="http://schemas.microsoft.com/office/powerpoint/2010/main" val="34887311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0DCAF-1069-1035-DFFD-D9D9F5A0570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7044C490-BF43-4586-8C66-60F48B725D2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62817564-2974-B899-B329-A5FCF43E9AE7}"/>
              </a:ext>
            </a:extLst>
          </p:cNvPr>
          <p:cNvSpPr>
            <a:spLocks noGrp="1"/>
          </p:cNvSpPr>
          <p:nvPr>
            <p:ph type="dt" sz="half" idx="10"/>
          </p:nvPr>
        </p:nvSpPr>
        <p:spPr/>
        <p:txBody>
          <a:bodyPr/>
          <a:lstStyle/>
          <a:p>
            <a:fld id="{6F77321C-600F-4585-984E-214BFE7DDF65}" type="datetimeFigureOut">
              <a:rPr lang="en-CA" smtClean="0"/>
              <a:t>2026-03-25</a:t>
            </a:fld>
            <a:endParaRPr lang="en-CA"/>
          </a:p>
        </p:txBody>
      </p:sp>
      <p:sp>
        <p:nvSpPr>
          <p:cNvPr id="5" name="Footer Placeholder 4">
            <a:extLst>
              <a:ext uri="{FF2B5EF4-FFF2-40B4-BE49-F238E27FC236}">
                <a16:creationId xmlns:a16="http://schemas.microsoft.com/office/drawing/2014/main" id="{819D48B3-5063-001C-2DAA-45989F866710}"/>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D5695117-52DA-3AD1-D2D1-98B178BF408F}"/>
              </a:ext>
            </a:extLst>
          </p:cNvPr>
          <p:cNvSpPr>
            <a:spLocks noGrp="1"/>
          </p:cNvSpPr>
          <p:nvPr>
            <p:ph type="sldNum" sz="quarter" idx="12"/>
          </p:nvPr>
        </p:nvSpPr>
        <p:spPr/>
        <p:txBody>
          <a:bodyPr/>
          <a:lstStyle/>
          <a:p>
            <a:fld id="{B58FA602-E73E-4A37-B702-75BEE5B7C778}" type="slidenum">
              <a:rPr lang="en-CA" smtClean="0"/>
              <a:t>‹#›</a:t>
            </a:fld>
            <a:endParaRPr lang="en-CA"/>
          </a:p>
        </p:txBody>
      </p:sp>
    </p:spTree>
    <p:extLst>
      <p:ext uri="{BB962C8B-B14F-4D97-AF65-F5344CB8AC3E}">
        <p14:creationId xmlns:p14="http://schemas.microsoft.com/office/powerpoint/2010/main" val="26349813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3175A-2444-5E0B-28C5-E9F6B4DDF8C2}"/>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18EC7B93-1567-3B2D-B445-4988E6C3A2F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3A69CC9A-217D-F6A9-2B36-DABA9537C233}"/>
              </a:ext>
            </a:extLst>
          </p:cNvPr>
          <p:cNvSpPr>
            <a:spLocks noGrp="1"/>
          </p:cNvSpPr>
          <p:nvPr>
            <p:ph type="dt" sz="half" idx="10"/>
          </p:nvPr>
        </p:nvSpPr>
        <p:spPr/>
        <p:txBody>
          <a:bodyPr/>
          <a:lstStyle/>
          <a:p>
            <a:fld id="{6F77321C-600F-4585-984E-214BFE7DDF65}" type="datetimeFigureOut">
              <a:rPr lang="en-CA" smtClean="0"/>
              <a:t>2026-03-25</a:t>
            </a:fld>
            <a:endParaRPr lang="en-CA"/>
          </a:p>
        </p:txBody>
      </p:sp>
      <p:sp>
        <p:nvSpPr>
          <p:cNvPr id="5" name="Footer Placeholder 4">
            <a:extLst>
              <a:ext uri="{FF2B5EF4-FFF2-40B4-BE49-F238E27FC236}">
                <a16:creationId xmlns:a16="http://schemas.microsoft.com/office/drawing/2014/main" id="{2A7823D4-D033-6A19-AFD3-4A41DC9F397A}"/>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62A14BC3-6617-88B3-33B7-39EED120E9F0}"/>
              </a:ext>
            </a:extLst>
          </p:cNvPr>
          <p:cNvSpPr>
            <a:spLocks noGrp="1"/>
          </p:cNvSpPr>
          <p:nvPr>
            <p:ph type="sldNum" sz="quarter" idx="12"/>
          </p:nvPr>
        </p:nvSpPr>
        <p:spPr/>
        <p:txBody>
          <a:bodyPr/>
          <a:lstStyle/>
          <a:p>
            <a:fld id="{B58FA602-E73E-4A37-B702-75BEE5B7C778}" type="slidenum">
              <a:rPr lang="en-CA" smtClean="0"/>
              <a:t>‹#›</a:t>
            </a:fld>
            <a:endParaRPr lang="en-CA"/>
          </a:p>
        </p:txBody>
      </p:sp>
    </p:spTree>
    <p:extLst>
      <p:ext uri="{BB962C8B-B14F-4D97-AF65-F5344CB8AC3E}">
        <p14:creationId xmlns:p14="http://schemas.microsoft.com/office/powerpoint/2010/main" val="12244816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5DEA5-8C2F-68CB-8FE8-C36B067480A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CB2C6DEB-7603-10DD-200E-711D9C29A7C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068F48A-FEEB-17CF-A803-E1CFA7C4E972}"/>
              </a:ext>
            </a:extLst>
          </p:cNvPr>
          <p:cNvSpPr>
            <a:spLocks noGrp="1"/>
          </p:cNvSpPr>
          <p:nvPr>
            <p:ph type="dt" sz="half" idx="10"/>
          </p:nvPr>
        </p:nvSpPr>
        <p:spPr/>
        <p:txBody>
          <a:bodyPr/>
          <a:lstStyle/>
          <a:p>
            <a:fld id="{6F77321C-600F-4585-984E-214BFE7DDF65}" type="datetimeFigureOut">
              <a:rPr lang="en-CA" smtClean="0"/>
              <a:t>2026-03-25</a:t>
            </a:fld>
            <a:endParaRPr lang="en-CA"/>
          </a:p>
        </p:txBody>
      </p:sp>
      <p:sp>
        <p:nvSpPr>
          <p:cNvPr id="5" name="Footer Placeholder 4">
            <a:extLst>
              <a:ext uri="{FF2B5EF4-FFF2-40B4-BE49-F238E27FC236}">
                <a16:creationId xmlns:a16="http://schemas.microsoft.com/office/drawing/2014/main" id="{67043D15-093D-7AB7-F8EE-C2A7A8A50723}"/>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E1D60E58-14DE-EFE8-05B5-B3AD0F7997DB}"/>
              </a:ext>
            </a:extLst>
          </p:cNvPr>
          <p:cNvSpPr>
            <a:spLocks noGrp="1"/>
          </p:cNvSpPr>
          <p:nvPr>
            <p:ph type="sldNum" sz="quarter" idx="12"/>
          </p:nvPr>
        </p:nvSpPr>
        <p:spPr/>
        <p:txBody>
          <a:bodyPr/>
          <a:lstStyle/>
          <a:p>
            <a:fld id="{B58FA602-E73E-4A37-B702-75BEE5B7C778}" type="slidenum">
              <a:rPr lang="en-CA" smtClean="0"/>
              <a:t>‹#›</a:t>
            </a:fld>
            <a:endParaRPr lang="en-CA"/>
          </a:p>
        </p:txBody>
      </p:sp>
    </p:spTree>
    <p:extLst>
      <p:ext uri="{BB962C8B-B14F-4D97-AF65-F5344CB8AC3E}">
        <p14:creationId xmlns:p14="http://schemas.microsoft.com/office/powerpoint/2010/main" val="11557147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17E2E-AEF0-BC8D-8524-2314656E6218}"/>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7A92F930-98EF-14BB-CCAE-8EACAE2F32B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8146E0EB-57F1-C5E9-FC56-CCA9D9AB521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6E8516B8-239E-02FA-5F15-A43DEA150A7A}"/>
              </a:ext>
            </a:extLst>
          </p:cNvPr>
          <p:cNvSpPr>
            <a:spLocks noGrp="1"/>
          </p:cNvSpPr>
          <p:nvPr>
            <p:ph type="dt" sz="half" idx="10"/>
          </p:nvPr>
        </p:nvSpPr>
        <p:spPr/>
        <p:txBody>
          <a:bodyPr/>
          <a:lstStyle/>
          <a:p>
            <a:fld id="{6F77321C-600F-4585-984E-214BFE7DDF65}" type="datetimeFigureOut">
              <a:rPr lang="en-CA" smtClean="0"/>
              <a:t>2026-03-25</a:t>
            </a:fld>
            <a:endParaRPr lang="en-CA"/>
          </a:p>
        </p:txBody>
      </p:sp>
      <p:sp>
        <p:nvSpPr>
          <p:cNvPr id="6" name="Footer Placeholder 5">
            <a:extLst>
              <a:ext uri="{FF2B5EF4-FFF2-40B4-BE49-F238E27FC236}">
                <a16:creationId xmlns:a16="http://schemas.microsoft.com/office/drawing/2014/main" id="{41F64F92-BEE6-ECA9-D9CF-E05DC2F676D9}"/>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6D7E47CE-4EB1-D886-784E-193C2826F339}"/>
              </a:ext>
            </a:extLst>
          </p:cNvPr>
          <p:cNvSpPr>
            <a:spLocks noGrp="1"/>
          </p:cNvSpPr>
          <p:nvPr>
            <p:ph type="sldNum" sz="quarter" idx="12"/>
          </p:nvPr>
        </p:nvSpPr>
        <p:spPr/>
        <p:txBody>
          <a:bodyPr/>
          <a:lstStyle/>
          <a:p>
            <a:fld id="{B58FA602-E73E-4A37-B702-75BEE5B7C778}" type="slidenum">
              <a:rPr lang="en-CA" smtClean="0"/>
              <a:t>‹#›</a:t>
            </a:fld>
            <a:endParaRPr lang="en-CA"/>
          </a:p>
        </p:txBody>
      </p:sp>
    </p:spTree>
    <p:extLst>
      <p:ext uri="{BB962C8B-B14F-4D97-AF65-F5344CB8AC3E}">
        <p14:creationId xmlns:p14="http://schemas.microsoft.com/office/powerpoint/2010/main" val="15720509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8783A2-711E-3B07-B250-D1520D5EFD12}"/>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AC17099E-3161-0D22-674A-CE54E8AF8E5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789F4CD-4E29-92BB-194B-1361A49C4DB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DD31F773-152F-6D6A-274B-7BB06160D1A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D05EF4C-DD55-F095-AE99-0F1B851ACDA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AB55738A-3542-DFE5-3D9E-DDE09F43BCB1}"/>
              </a:ext>
            </a:extLst>
          </p:cNvPr>
          <p:cNvSpPr>
            <a:spLocks noGrp="1"/>
          </p:cNvSpPr>
          <p:nvPr>
            <p:ph type="dt" sz="half" idx="10"/>
          </p:nvPr>
        </p:nvSpPr>
        <p:spPr/>
        <p:txBody>
          <a:bodyPr/>
          <a:lstStyle/>
          <a:p>
            <a:fld id="{6F77321C-600F-4585-984E-214BFE7DDF65}" type="datetimeFigureOut">
              <a:rPr lang="en-CA" smtClean="0"/>
              <a:t>2026-03-25</a:t>
            </a:fld>
            <a:endParaRPr lang="en-CA"/>
          </a:p>
        </p:txBody>
      </p:sp>
      <p:sp>
        <p:nvSpPr>
          <p:cNvPr id="8" name="Footer Placeholder 7">
            <a:extLst>
              <a:ext uri="{FF2B5EF4-FFF2-40B4-BE49-F238E27FC236}">
                <a16:creationId xmlns:a16="http://schemas.microsoft.com/office/drawing/2014/main" id="{70F12744-3647-3487-965B-A58DEF20253D}"/>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458812B0-2B1C-7159-40BD-BFA6CB961BC5}"/>
              </a:ext>
            </a:extLst>
          </p:cNvPr>
          <p:cNvSpPr>
            <a:spLocks noGrp="1"/>
          </p:cNvSpPr>
          <p:nvPr>
            <p:ph type="sldNum" sz="quarter" idx="12"/>
          </p:nvPr>
        </p:nvSpPr>
        <p:spPr/>
        <p:txBody>
          <a:bodyPr/>
          <a:lstStyle/>
          <a:p>
            <a:fld id="{B58FA602-E73E-4A37-B702-75BEE5B7C778}" type="slidenum">
              <a:rPr lang="en-CA" smtClean="0"/>
              <a:t>‹#›</a:t>
            </a:fld>
            <a:endParaRPr lang="en-CA"/>
          </a:p>
        </p:txBody>
      </p:sp>
    </p:spTree>
    <p:extLst>
      <p:ext uri="{BB962C8B-B14F-4D97-AF65-F5344CB8AC3E}">
        <p14:creationId xmlns:p14="http://schemas.microsoft.com/office/powerpoint/2010/main" val="31850018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7AD589-5A1F-8297-BF4F-631702ABE337}"/>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8EE9B2EB-1C64-519F-9177-AE0430C4A1FE}"/>
              </a:ext>
            </a:extLst>
          </p:cNvPr>
          <p:cNvSpPr>
            <a:spLocks noGrp="1"/>
          </p:cNvSpPr>
          <p:nvPr>
            <p:ph type="dt" sz="half" idx="10"/>
          </p:nvPr>
        </p:nvSpPr>
        <p:spPr/>
        <p:txBody>
          <a:bodyPr/>
          <a:lstStyle/>
          <a:p>
            <a:fld id="{6F77321C-600F-4585-984E-214BFE7DDF65}" type="datetimeFigureOut">
              <a:rPr lang="en-CA" smtClean="0"/>
              <a:t>2026-03-25</a:t>
            </a:fld>
            <a:endParaRPr lang="en-CA"/>
          </a:p>
        </p:txBody>
      </p:sp>
      <p:sp>
        <p:nvSpPr>
          <p:cNvPr id="4" name="Footer Placeholder 3">
            <a:extLst>
              <a:ext uri="{FF2B5EF4-FFF2-40B4-BE49-F238E27FC236}">
                <a16:creationId xmlns:a16="http://schemas.microsoft.com/office/drawing/2014/main" id="{966314CC-9043-1975-FD06-C8C056F9C780}"/>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8AE7D938-A7E7-EFE2-980C-FF005E64E5EC}"/>
              </a:ext>
            </a:extLst>
          </p:cNvPr>
          <p:cNvSpPr>
            <a:spLocks noGrp="1"/>
          </p:cNvSpPr>
          <p:nvPr>
            <p:ph type="sldNum" sz="quarter" idx="12"/>
          </p:nvPr>
        </p:nvSpPr>
        <p:spPr/>
        <p:txBody>
          <a:bodyPr/>
          <a:lstStyle/>
          <a:p>
            <a:fld id="{B58FA602-E73E-4A37-B702-75BEE5B7C778}" type="slidenum">
              <a:rPr lang="en-CA" smtClean="0"/>
              <a:t>‹#›</a:t>
            </a:fld>
            <a:endParaRPr lang="en-CA"/>
          </a:p>
        </p:txBody>
      </p:sp>
    </p:spTree>
    <p:extLst>
      <p:ext uri="{BB962C8B-B14F-4D97-AF65-F5344CB8AC3E}">
        <p14:creationId xmlns:p14="http://schemas.microsoft.com/office/powerpoint/2010/main" val="20710108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96DE400-9D1E-5DAB-27DE-42482EFFC798}"/>
              </a:ext>
            </a:extLst>
          </p:cNvPr>
          <p:cNvSpPr>
            <a:spLocks noGrp="1"/>
          </p:cNvSpPr>
          <p:nvPr>
            <p:ph type="dt" sz="half" idx="10"/>
          </p:nvPr>
        </p:nvSpPr>
        <p:spPr/>
        <p:txBody>
          <a:bodyPr/>
          <a:lstStyle/>
          <a:p>
            <a:fld id="{6F77321C-600F-4585-984E-214BFE7DDF65}" type="datetimeFigureOut">
              <a:rPr lang="en-CA" smtClean="0"/>
              <a:t>2026-03-25</a:t>
            </a:fld>
            <a:endParaRPr lang="en-CA"/>
          </a:p>
        </p:txBody>
      </p:sp>
      <p:sp>
        <p:nvSpPr>
          <p:cNvPr id="3" name="Footer Placeholder 2">
            <a:extLst>
              <a:ext uri="{FF2B5EF4-FFF2-40B4-BE49-F238E27FC236}">
                <a16:creationId xmlns:a16="http://schemas.microsoft.com/office/drawing/2014/main" id="{063924F1-DC7C-4BD4-63F4-8BF66FF43299}"/>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3EA9FF65-9E15-E14A-7468-A3AEDDF405C7}"/>
              </a:ext>
            </a:extLst>
          </p:cNvPr>
          <p:cNvSpPr>
            <a:spLocks noGrp="1"/>
          </p:cNvSpPr>
          <p:nvPr>
            <p:ph type="sldNum" sz="quarter" idx="12"/>
          </p:nvPr>
        </p:nvSpPr>
        <p:spPr/>
        <p:txBody>
          <a:bodyPr/>
          <a:lstStyle/>
          <a:p>
            <a:fld id="{B58FA602-E73E-4A37-B702-75BEE5B7C778}" type="slidenum">
              <a:rPr lang="en-CA" smtClean="0"/>
              <a:t>‹#›</a:t>
            </a:fld>
            <a:endParaRPr lang="en-CA"/>
          </a:p>
        </p:txBody>
      </p:sp>
    </p:spTree>
    <p:extLst>
      <p:ext uri="{BB962C8B-B14F-4D97-AF65-F5344CB8AC3E}">
        <p14:creationId xmlns:p14="http://schemas.microsoft.com/office/powerpoint/2010/main" val="22463061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85E05-B5C8-7485-43A2-E6717D1763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35D982D7-000C-75BF-802D-317BFEE7FFA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8B7BB3C1-C593-18F6-51A2-918FA5A2FD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8B1B5A0-9E29-4648-6477-88F008DED8EB}"/>
              </a:ext>
            </a:extLst>
          </p:cNvPr>
          <p:cNvSpPr>
            <a:spLocks noGrp="1"/>
          </p:cNvSpPr>
          <p:nvPr>
            <p:ph type="dt" sz="half" idx="10"/>
          </p:nvPr>
        </p:nvSpPr>
        <p:spPr/>
        <p:txBody>
          <a:bodyPr/>
          <a:lstStyle/>
          <a:p>
            <a:fld id="{6F77321C-600F-4585-984E-214BFE7DDF65}" type="datetimeFigureOut">
              <a:rPr lang="en-CA" smtClean="0"/>
              <a:t>2026-03-25</a:t>
            </a:fld>
            <a:endParaRPr lang="en-CA"/>
          </a:p>
        </p:txBody>
      </p:sp>
      <p:sp>
        <p:nvSpPr>
          <p:cNvPr id="6" name="Footer Placeholder 5">
            <a:extLst>
              <a:ext uri="{FF2B5EF4-FFF2-40B4-BE49-F238E27FC236}">
                <a16:creationId xmlns:a16="http://schemas.microsoft.com/office/drawing/2014/main" id="{ED1E791F-80DF-CFFD-54D0-F4383D95A071}"/>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99C04472-CBCA-4077-12F5-AED24480968B}"/>
              </a:ext>
            </a:extLst>
          </p:cNvPr>
          <p:cNvSpPr>
            <a:spLocks noGrp="1"/>
          </p:cNvSpPr>
          <p:nvPr>
            <p:ph type="sldNum" sz="quarter" idx="12"/>
          </p:nvPr>
        </p:nvSpPr>
        <p:spPr/>
        <p:txBody>
          <a:bodyPr/>
          <a:lstStyle/>
          <a:p>
            <a:fld id="{B58FA602-E73E-4A37-B702-75BEE5B7C778}" type="slidenum">
              <a:rPr lang="en-CA" smtClean="0"/>
              <a:t>‹#›</a:t>
            </a:fld>
            <a:endParaRPr lang="en-CA"/>
          </a:p>
        </p:txBody>
      </p:sp>
    </p:spTree>
    <p:extLst>
      <p:ext uri="{BB962C8B-B14F-4D97-AF65-F5344CB8AC3E}">
        <p14:creationId xmlns:p14="http://schemas.microsoft.com/office/powerpoint/2010/main" val="33883257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72FE0-0C31-5465-158B-BB1C89A9821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D404432C-CFA2-BDDE-210E-39C65D25574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5226CBD2-CE0F-63D8-D2CF-29F808FE87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F810B72-CB43-294E-1F27-812A30AFBCAC}"/>
              </a:ext>
            </a:extLst>
          </p:cNvPr>
          <p:cNvSpPr>
            <a:spLocks noGrp="1"/>
          </p:cNvSpPr>
          <p:nvPr>
            <p:ph type="dt" sz="half" idx="10"/>
          </p:nvPr>
        </p:nvSpPr>
        <p:spPr/>
        <p:txBody>
          <a:bodyPr/>
          <a:lstStyle/>
          <a:p>
            <a:fld id="{6F77321C-600F-4585-984E-214BFE7DDF65}" type="datetimeFigureOut">
              <a:rPr lang="en-CA" smtClean="0"/>
              <a:t>2026-03-25</a:t>
            </a:fld>
            <a:endParaRPr lang="en-CA"/>
          </a:p>
        </p:txBody>
      </p:sp>
      <p:sp>
        <p:nvSpPr>
          <p:cNvPr id="6" name="Footer Placeholder 5">
            <a:extLst>
              <a:ext uri="{FF2B5EF4-FFF2-40B4-BE49-F238E27FC236}">
                <a16:creationId xmlns:a16="http://schemas.microsoft.com/office/drawing/2014/main" id="{EA12F4B9-036E-1FF9-4F4B-8E70EBB03B4F}"/>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1914BBBC-D71B-8532-51B3-A3D33DB02B61}"/>
              </a:ext>
            </a:extLst>
          </p:cNvPr>
          <p:cNvSpPr>
            <a:spLocks noGrp="1"/>
          </p:cNvSpPr>
          <p:nvPr>
            <p:ph type="sldNum" sz="quarter" idx="12"/>
          </p:nvPr>
        </p:nvSpPr>
        <p:spPr/>
        <p:txBody>
          <a:bodyPr/>
          <a:lstStyle/>
          <a:p>
            <a:fld id="{B58FA602-E73E-4A37-B702-75BEE5B7C778}" type="slidenum">
              <a:rPr lang="en-CA" smtClean="0"/>
              <a:t>‹#›</a:t>
            </a:fld>
            <a:endParaRPr lang="en-CA"/>
          </a:p>
        </p:txBody>
      </p:sp>
    </p:spTree>
    <p:extLst>
      <p:ext uri="{BB962C8B-B14F-4D97-AF65-F5344CB8AC3E}">
        <p14:creationId xmlns:p14="http://schemas.microsoft.com/office/powerpoint/2010/main" val="41216839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F52D7B-718C-7512-2E0A-F3F690267600}"/>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07A02C05-B36B-E6A1-062D-07D718B6E91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B62E2DF7-D675-C1AE-43D2-020935AE1B5A}"/>
              </a:ext>
            </a:extLst>
          </p:cNvPr>
          <p:cNvSpPr>
            <a:spLocks noGrp="1"/>
          </p:cNvSpPr>
          <p:nvPr>
            <p:ph type="dt" sz="half" idx="10"/>
          </p:nvPr>
        </p:nvSpPr>
        <p:spPr/>
        <p:txBody>
          <a:bodyPr/>
          <a:lstStyle/>
          <a:p>
            <a:fld id="{6F77321C-600F-4585-984E-214BFE7DDF65}" type="datetimeFigureOut">
              <a:rPr lang="en-CA" smtClean="0"/>
              <a:t>2026-03-25</a:t>
            </a:fld>
            <a:endParaRPr lang="en-CA"/>
          </a:p>
        </p:txBody>
      </p:sp>
      <p:sp>
        <p:nvSpPr>
          <p:cNvPr id="5" name="Footer Placeholder 4">
            <a:extLst>
              <a:ext uri="{FF2B5EF4-FFF2-40B4-BE49-F238E27FC236}">
                <a16:creationId xmlns:a16="http://schemas.microsoft.com/office/drawing/2014/main" id="{6FD872D0-AEC0-9E50-6A69-16E1ABC48E5A}"/>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CA750F1E-5250-9FC3-4304-E8AC62C9F00F}"/>
              </a:ext>
            </a:extLst>
          </p:cNvPr>
          <p:cNvSpPr>
            <a:spLocks noGrp="1"/>
          </p:cNvSpPr>
          <p:nvPr>
            <p:ph type="sldNum" sz="quarter" idx="12"/>
          </p:nvPr>
        </p:nvSpPr>
        <p:spPr/>
        <p:txBody>
          <a:bodyPr/>
          <a:lstStyle/>
          <a:p>
            <a:fld id="{B58FA602-E73E-4A37-B702-75BEE5B7C778}" type="slidenum">
              <a:rPr lang="en-CA" smtClean="0"/>
              <a:t>‹#›</a:t>
            </a:fld>
            <a:endParaRPr lang="en-CA"/>
          </a:p>
        </p:txBody>
      </p:sp>
    </p:spTree>
    <p:extLst>
      <p:ext uri="{BB962C8B-B14F-4D97-AF65-F5344CB8AC3E}">
        <p14:creationId xmlns:p14="http://schemas.microsoft.com/office/powerpoint/2010/main" val="23133843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DB27EB7-68A6-4C5E-2ADE-B851D9B126A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51DCB1E9-1A93-116D-A62E-ABC43F64404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8C045996-66E3-7953-AFC7-DB5F700C2D44}"/>
              </a:ext>
            </a:extLst>
          </p:cNvPr>
          <p:cNvSpPr>
            <a:spLocks noGrp="1"/>
          </p:cNvSpPr>
          <p:nvPr>
            <p:ph type="dt" sz="half" idx="10"/>
          </p:nvPr>
        </p:nvSpPr>
        <p:spPr/>
        <p:txBody>
          <a:bodyPr/>
          <a:lstStyle/>
          <a:p>
            <a:fld id="{6F77321C-600F-4585-984E-214BFE7DDF65}" type="datetimeFigureOut">
              <a:rPr lang="en-CA" smtClean="0"/>
              <a:t>2026-03-25</a:t>
            </a:fld>
            <a:endParaRPr lang="en-CA"/>
          </a:p>
        </p:txBody>
      </p:sp>
      <p:sp>
        <p:nvSpPr>
          <p:cNvPr id="5" name="Footer Placeholder 4">
            <a:extLst>
              <a:ext uri="{FF2B5EF4-FFF2-40B4-BE49-F238E27FC236}">
                <a16:creationId xmlns:a16="http://schemas.microsoft.com/office/drawing/2014/main" id="{4239DDB2-0EF9-E51C-943E-D2B636E57837}"/>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B2ADE2D4-4BE7-09B9-5A7F-88DFFE27E36F}"/>
              </a:ext>
            </a:extLst>
          </p:cNvPr>
          <p:cNvSpPr>
            <a:spLocks noGrp="1"/>
          </p:cNvSpPr>
          <p:nvPr>
            <p:ph type="sldNum" sz="quarter" idx="12"/>
          </p:nvPr>
        </p:nvSpPr>
        <p:spPr/>
        <p:txBody>
          <a:bodyPr/>
          <a:lstStyle/>
          <a:p>
            <a:fld id="{B58FA602-E73E-4A37-B702-75BEE5B7C778}" type="slidenum">
              <a:rPr lang="en-CA" smtClean="0"/>
              <a:t>‹#›</a:t>
            </a:fld>
            <a:endParaRPr lang="en-CA"/>
          </a:p>
        </p:txBody>
      </p:sp>
    </p:spTree>
    <p:extLst>
      <p:ext uri="{BB962C8B-B14F-4D97-AF65-F5344CB8AC3E}">
        <p14:creationId xmlns:p14="http://schemas.microsoft.com/office/powerpoint/2010/main" val="32489598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FFD095A-0600-EEF7-F9A1-B93C6404DE0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D50EF35D-E59A-CC5D-4BFF-9B15BEB7648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7B503E76-A9EA-D4B3-F1BE-F7B7E453133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F77321C-600F-4585-984E-214BFE7DDF65}" type="datetimeFigureOut">
              <a:rPr lang="en-CA" smtClean="0"/>
              <a:t>2026-03-25</a:t>
            </a:fld>
            <a:endParaRPr lang="en-CA"/>
          </a:p>
        </p:txBody>
      </p:sp>
      <p:sp>
        <p:nvSpPr>
          <p:cNvPr id="5" name="Footer Placeholder 4">
            <a:extLst>
              <a:ext uri="{FF2B5EF4-FFF2-40B4-BE49-F238E27FC236}">
                <a16:creationId xmlns:a16="http://schemas.microsoft.com/office/drawing/2014/main" id="{CC0FCE5F-661B-ED9F-53AE-5800F9E55E1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A"/>
          </a:p>
        </p:txBody>
      </p:sp>
      <p:sp>
        <p:nvSpPr>
          <p:cNvPr id="6" name="Slide Number Placeholder 5">
            <a:extLst>
              <a:ext uri="{FF2B5EF4-FFF2-40B4-BE49-F238E27FC236}">
                <a16:creationId xmlns:a16="http://schemas.microsoft.com/office/drawing/2014/main" id="{8E177334-8449-6F78-1139-D5F7B7EC01B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58FA602-E73E-4A37-B702-75BEE5B7C778}" type="slidenum">
              <a:rPr lang="en-CA" smtClean="0"/>
              <a:t>‹#›</a:t>
            </a:fld>
            <a:endParaRPr lang="en-CA"/>
          </a:p>
        </p:txBody>
      </p:sp>
    </p:spTree>
    <p:extLst>
      <p:ext uri="{BB962C8B-B14F-4D97-AF65-F5344CB8AC3E}">
        <p14:creationId xmlns:p14="http://schemas.microsoft.com/office/powerpoint/2010/main" val="34023041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svg"/></Relationships>
</file>

<file path=ppt/slides/_rels/slide6.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hyperlink" Target="https://ised-isde.canada.ca/site/ised/en/sme-ai-adoption-blueprint" TargetMode="External"/><Relationship Id="rId2" Type="http://schemas.openxmlformats.org/officeDocument/2006/relationships/hyperlink" Target="https://ised-isde.canada.ca/site/ised/en/canadian-sovereign-ai-compute-strategy" TargetMode="Externa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D91CA-2FCD-B572-2948-9C145748C88E}"/>
              </a:ext>
            </a:extLst>
          </p:cNvPr>
          <p:cNvSpPr>
            <a:spLocks noGrp="1"/>
          </p:cNvSpPr>
          <p:nvPr>
            <p:ph type="ctrTitle"/>
          </p:nvPr>
        </p:nvSpPr>
        <p:spPr/>
        <p:txBody>
          <a:bodyPr/>
          <a:lstStyle/>
          <a:p>
            <a:r>
              <a:rPr lang="en-CA" dirty="0"/>
              <a:t>PROBLEM AND RECOMMENDATION -1</a:t>
            </a:r>
          </a:p>
        </p:txBody>
      </p:sp>
      <p:sp>
        <p:nvSpPr>
          <p:cNvPr id="3" name="Subtitle 2">
            <a:extLst>
              <a:ext uri="{FF2B5EF4-FFF2-40B4-BE49-F238E27FC236}">
                <a16:creationId xmlns:a16="http://schemas.microsoft.com/office/drawing/2014/main" id="{9B9EB6C3-1DB3-C578-9BB0-4A8EFB78EE3C}"/>
              </a:ext>
            </a:extLst>
          </p:cNvPr>
          <p:cNvSpPr>
            <a:spLocks noGrp="1"/>
          </p:cNvSpPr>
          <p:nvPr>
            <p:ph type="subTitle" idx="1"/>
          </p:nvPr>
        </p:nvSpPr>
        <p:spPr/>
        <p:txBody>
          <a:bodyPr/>
          <a:lstStyle/>
          <a:p>
            <a:endParaRPr lang="en-CA" dirty="0"/>
          </a:p>
        </p:txBody>
      </p:sp>
    </p:spTree>
    <p:extLst>
      <p:ext uri="{BB962C8B-B14F-4D97-AF65-F5344CB8AC3E}">
        <p14:creationId xmlns:p14="http://schemas.microsoft.com/office/powerpoint/2010/main" val="2607176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FF5681-D091-39E6-0DAC-19E184081046}"/>
              </a:ext>
            </a:extLst>
          </p:cNvPr>
          <p:cNvSpPr>
            <a:spLocks noGrp="1"/>
          </p:cNvSpPr>
          <p:nvPr>
            <p:ph type="title"/>
          </p:nvPr>
        </p:nvSpPr>
        <p:spPr/>
        <p:txBody>
          <a:bodyPr>
            <a:normAutofit fontScale="90000"/>
          </a:bodyPr>
          <a:lstStyle/>
          <a:p>
            <a:r>
              <a:rPr lang="en-CA" dirty="0"/>
              <a:t>Problem 1 -  Canada's AI Talent Paradox: </a:t>
            </a:r>
            <a:br>
              <a:rPr lang="en-CA" dirty="0"/>
            </a:br>
            <a:r>
              <a:rPr lang="en-CA" b="0" dirty="0"/>
              <a:t>High Acquisition, Yet Critical Outflow to US Tech Hubs</a:t>
            </a:r>
            <a:endParaRPr lang="en-US" dirty="0"/>
          </a:p>
        </p:txBody>
      </p:sp>
      <p:sp>
        <p:nvSpPr>
          <p:cNvPr id="3" name="Content Placeholder 2">
            <a:extLst>
              <a:ext uri="{FF2B5EF4-FFF2-40B4-BE49-F238E27FC236}">
                <a16:creationId xmlns:a16="http://schemas.microsoft.com/office/drawing/2014/main" id="{3930259E-1CA7-67B7-A777-C5B9FBA15817}"/>
              </a:ext>
            </a:extLst>
          </p:cNvPr>
          <p:cNvSpPr>
            <a:spLocks noGrp="1"/>
          </p:cNvSpPr>
          <p:nvPr>
            <p:ph idx="1"/>
          </p:nvPr>
        </p:nvSpPr>
        <p:spPr>
          <a:xfrm>
            <a:off x="380999" y="1592262"/>
            <a:ext cx="10851574" cy="4286024"/>
          </a:xfrm>
        </p:spPr>
        <p:txBody>
          <a:bodyPr>
            <a:normAutofit/>
          </a:bodyPr>
          <a:lstStyle/>
          <a:p>
            <a:pPr marL="0" indent="0">
              <a:buNone/>
            </a:pPr>
            <a:r>
              <a:rPr lang="en-CA" sz="1800" dirty="0"/>
              <a:t>Despite successfully attracting global AI talent, Canada suffers a severe </a:t>
            </a:r>
            <a:r>
              <a:rPr lang="en-CA" sz="1800" b="1" dirty="0"/>
              <a:t>retention</a:t>
            </a:r>
            <a:r>
              <a:rPr lang="en-CA" sz="1800" dirty="0"/>
              <a:t> deficit, effectively subsidizing US innovation as top researchers migrate south for better compensation and career trajectories.</a:t>
            </a:r>
          </a:p>
          <a:p>
            <a:pPr marL="0" indent="0">
              <a:buNone/>
            </a:pPr>
            <a:endParaRPr lang="en-US" sz="1600" dirty="0"/>
          </a:p>
        </p:txBody>
      </p:sp>
      <p:sp>
        <p:nvSpPr>
          <p:cNvPr id="4" name="Slide Number Placeholder 3">
            <a:extLst>
              <a:ext uri="{FF2B5EF4-FFF2-40B4-BE49-F238E27FC236}">
                <a16:creationId xmlns:a16="http://schemas.microsoft.com/office/drawing/2014/main" id="{A7D67081-B462-D7FE-C54F-051AFE639051}"/>
              </a:ext>
            </a:extLst>
          </p:cNvPr>
          <p:cNvSpPr>
            <a:spLocks noGrp="1"/>
          </p:cNvSpPr>
          <p:nvPr>
            <p:ph type="sldNum" sz="quarter" idx="12"/>
          </p:nvPr>
        </p:nvSpPr>
        <p:spPr/>
        <p:txBody>
          <a:bodyPr/>
          <a:lstStyle/>
          <a:p>
            <a:fld id="{1BD90C89-BB05-D647-8C9B-C2376028CB3D}" type="slidenum">
              <a:rPr lang="en-CA" smtClean="0"/>
              <a:t>2</a:t>
            </a:fld>
            <a:endParaRPr lang="en-CA"/>
          </a:p>
        </p:txBody>
      </p:sp>
      <p:pic>
        <p:nvPicPr>
          <p:cNvPr id="14" name="Graphic 13">
            <a:extLst>
              <a:ext uri="{FF2B5EF4-FFF2-40B4-BE49-F238E27FC236}">
                <a16:creationId xmlns:a16="http://schemas.microsoft.com/office/drawing/2014/main" id="{2379396E-9117-AD67-A0ED-9BFE302DBBB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64424" y="2483454"/>
            <a:ext cx="5857858" cy="3295046"/>
          </a:xfrm>
          <a:prstGeom prst="rect">
            <a:avLst/>
          </a:prstGeom>
        </p:spPr>
      </p:pic>
      <p:sp>
        <p:nvSpPr>
          <p:cNvPr id="17" name="TextBox 16">
            <a:extLst>
              <a:ext uri="{FF2B5EF4-FFF2-40B4-BE49-F238E27FC236}">
                <a16:creationId xmlns:a16="http://schemas.microsoft.com/office/drawing/2014/main" id="{E32463F9-FF4C-4AD7-0EEF-F58A3406BB46}"/>
              </a:ext>
            </a:extLst>
          </p:cNvPr>
          <p:cNvSpPr txBox="1"/>
          <p:nvPr/>
        </p:nvSpPr>
        <p:spPr>
          <a:xfrm>
            <a:off x="380999" y="2631684"/>
            <a:ext cx="5926283" cy="2554545"/>
          </a:xfrm>
          <a:prstGeom prst="rect">
            <a:avLst/>
          </a:prstGeom>
          <a:noFill/>
        </p:spPr>
        <p:txBody>
          <a:bodyPr wrap="square">
            <a:spAutoFit/>
          </a:bodyPr>
          <a:lstStyle/>
          <a:p>
            <a:pPr marL="285750" indent="-285750">
              <a:buFont typeface="Arial" panose="020B0604020202020204" pitchFamily="34" charset="0"/>
              <a:buChar char="•"/>
            </a:pPr>
            <a:r>
              <a:rPr lang="en-CA" sz="1600" b="1" dirty="0"/>
              <a:t>High Initial Acquisition:</a:t>
            </a:r>
            <a:r>
              <a:rPr lang="en-CA" sz="1600" dirty="0"/>
              <a:t> We successfully draw globally recognized ML researchers into Canadian institutions, , though </a:t>
            </a:r>
            <a:r>
              <a:rPr lang="en-CA" sz="1600" b="1" dirty="0"/>
              <a:t>permanent retention </a:t>
            </a:r>
            <a:r>
              <a:rPr lang="en-CA" sz="1600" dirty="0"/>
              <a:t>remains a challenge.</a:t>
            </a:r>
          </a:p>
          <a:p>
            <a:pPr marL="285750" indent="-285750">
              <a:buFont typeface="Arial" panose="020B0604020202020204" pitchFamily="34" charset="0"/>
              <a:buChar char="•"/>
            </a:pPr>
            <a:r>
              <a:rPr lang="en-CA" sz="1600" b="1" dirty="0"/>
              <a:t>The 20% Attrition Reality </a:t>
            </a:r>
            <a:r>
              <a:rPr lang="en-CA" sz="1600" dirty="0"/>
              <a:t>– </a:t>
            </a:r>
            <a:r>
              <a:rPr lang="en-CA" sz="1600" b="1" dirty="0"/>
              <a:t>1 in 5 </a:t>
            </a:r>
            <a:r>
              <a:rPr lang="en-CA" sz="1600" dirty="0"/>
              <a:t>highly skilled professionals leave within their </a:t>
            </a:r>
            <a:r>
              <a:rPr lang="en-CA" sz="1600" b="1" dirty="0"/>
              <a:t>first five years</a:t>
            </a:r>
            <a:r>
              <a:rPr lang="en-CA" sz="1600" dirty="0"/>
              <a:t>, with technical and research fields showing the weakest </a:t>
            </a:r>
            <a:r>
              <a:rPr lang="en-CA" sz="1600" b="1" dirty="0"/>
              <a:t>long-term retention</a:t>
            </a:r>
            <a:r>
              <a:rPr lang="en-CA" sz="1600" dirty="0"/>
              <a:t>.</a:t>
            </a:r>
          </a:p>
          <a:p>
            <a:pPr marL="285750" indent="-285750">
              <a:buFont typeface="Arial" panose="020B0604020202020204" pitchFamily="34" charset="0"/>
              <a:buChar char="•"/>
            </a:pPr>
            <a:r>
              <a:rPr lang="en-CA" sz="1600" b="1" dirty="0"/>
              <a:t>The US Pull Factor </a:t>
            </a:r>
            <a:r>
              <a:rPr lang="en-CA" sz="1600" dirty="0"/>
              <a:t>– Severe domestic salary ceilings and limited late-stage career pathways force a rapid exodus of senior ML talent to American competitors.</a:t>
            </a:r>
            <a:endParaRPr lang="en-CA" dirty="0"/>
          </a:p>
        </p:txBody>
      </p:sp>
      <p:sp>
        <p:nvSpPr>
          <p:cNvPr id="19" name="TextBox 18">
            <a:extLst>
              <a:ext uri="{FF2B5EF4-FFF2-40B4-BE49-F238E27FC236}">
                <a16:creationId xmlns:a16="http://schemas.microsoft.com/office/drawing/2014/main" id="{F6DDCD1F-0B37-428E-C297-93A138B2E5C5}"/>
              </a:ext>
            </a:extLst>
          </p:cNvPr>
          <p:cNvSpPr txBox="1"/>
          <p:nvPr/>
        </p:nvSpPr>
        <p:spPr>
          <a:xfrm>
            <a:off x="6307282" y="5794764"/>
            <a:ext cx="5029200" cy="430887"/>
          </a:xfrm>
          <a:prstGeom prst="rect">
            <a:avLst/>
          </a:prstGeom>
          <a:noFill/>
        </p:spPr>
        <p:txBody>
          <a:bodyPr wrap="square">
            <a:spAutoFit/>
          </a:bodyPr>
          <a:lstStyle/>
          <a:p>
            <a:r>
              <a:rPr lang="en-CA" sz="1100" b="0" i="1" dirty="0">
                <a:effectLst/>
                <a:latin typeface="pplxSans"/>
              </a:rPr>
              <a:t>Source: Vector Institute / The Conference Board of Canada (2024); Spicer, Olmstead &amp; Goodman,</a:t>
            </a:r>
            <a:r>
              <a:rPr lang="zh-CN" altLang="en-US" sz="1100" b="0" i="1" dirty="0">
                <a:effectLst/>
                <a:latin typeface="pplxSans"/>
              </a:rPr>
              <a:t> </a:t>
            </a:r>
            <a:r>
              <a:rPr lang="en-CA" sz="1100" b="0" i="1" dirty="0">
                <a:effectLst/>
                <a:latin typeface="pplxSans"/>
              </a:rPr>
              <a:t>Core AI skill demand in Canada: +37% (2018–2023);</a:t>
            </a:r>
            <a:endParaRPr lang="en-US" sz="1100" i="1" dirty="0"/>
          </a:p>
        </p:txBody>
      </p:sp>
    </p:spTree>
    <p:extLst>
      <p:ext uri="{BB962C8B-B14F-4D97-AF65-F5344CB8AC3E}">
        <p14:creationId xmlns:p14="http://schemas.microsoft.com/office/powerpoint/2010/main" val="1011339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540FF8-F992-6DFC-5463-D8343CBB45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7D6612-3984-8D80-06BE-ABEDE737913E}"/>
              </a:ext>
            </a:extLst>
          </p:cNvPr>
          <p:cNvSpPr>
            <a:spLocks noGrp="1"/>
          </p:cNvSpPr>
          <p:nvPr>
            <p:ph type="title"/>
          </p:nvPr>
        </p:nvSpPr>
        <p:spPr/>
        <p:txBody>
          <a:bodyPr>
            <a:normAutofit fontScale="90000"/>
          </a:bodyPr>
          <a:lstStyle/>
          <a:p>
            <a:r>
              <a:rPr lang="en-CA" dirty="0"/>
              <a:t>Recommendation 1 - Build Career Moats for Talent - Sam</a:t>
            </a:r>
            <a:br>
              <a:rPr lang="en-CA" dirty="0"/>
            </a:br>
            <a:r>
              <a:rPr lang="en-CA" sz="2400" b="0" dirty="0"/>
              <a:t>Target: Problem 1 (</a:t>
            </a:r>
            <a:r>
              <a:rPr lang="en-CA" sz="2400" dirty="0"/>
              <a:t>Canada's AI Talent Paradox</a:t>
            </a:r>
            <a:r>
              <a:rPr lang="en-CA" sz="2400" b="0" dirty="0"/>
              <a:t>)</a:t>
            </a:r>
            <a:endParaRPr lang="en-US" b="0" dirty="0"/>
          </a:p>
        </p:txBody>
      </p:sp>
      <p:sp>
        <p:nvSpPr>
          <p:cNvPr id="3" name="Content Placeholder 2">
            <a:extLst>
              <a:ext uri="{FF2B5EF4-FFF2-40B4-BE49-F238E27FC236}">
                <a16:creationId xmlns:a16="http://schemas.microsoft.com/office/drawing/2014/main" id="{2C0BE689-619F-151C-F071-AF92FFC310FF}"/>
              </a:ext>
            </a:extLst>
          </p:cNvPr>
          <p:cNvSpPr>
            <a:spLocks noGrp="1"/>
          </p:cNvSpPr>
          <p:nvPr>
            <p:ph sz="half" idx="1"/>
          </p:nvPr>
        </p:nvSpPr>
        <p:spPr>
          <a:xfrm>
            <a:off x="381000" y="1592263"/>
            <a:ext cx="5002213" cy="4455840"/>
          </a:xfrm>
        </p:spPr>
        <p:txBody>
          <a:bodyPr>
            <a:normAutofit fontScale="62500" lnSpcReduction="20000"/>
          </a:bodyPr>
          <a:lstStyle/>
          <a:p>
            <a:r>
              <a:rPr lang="en-CA" b="1" dirty="0"/>
              <a:t>THE OBJECTIVE: </a:t>
            </a:r>
            <a:r>
              <a:rPr lang="en-CA" dirty="0"/>
              <a:t>Pivot Canada from a "global talent incubator" into a destination for top engineers by directly attacking the </a:t>
            </a:r>
            <a:r>
              <a:rPr lang="en-CA" b="1" dirty="0"/>
              <a:t>take-home pay gap </a:t>
            </a:r>
            <a:r>
              <a:rPr lang="en-CA" dirty="0"/>
              <a:t>and removing </a:t>
            </a:r>
            <a:r>
              <a:rPr lang="en-CA" b="1" dirty="0"/>
              <a:t>immigration friction</a:t>
            </a:r>
            <a:r>
              <a:rPr lang="en-CA" dirty="0"/>
              <a:t>. </a:t>
            </a:r>
          </a:p>
          <a:p>
            <a:r>
              <a:rPr lang="en-CA" b="1" dirty="0"/>
              <a:t>Action Items:</a:t>
            </a:r>
          </a:p>
          <a:p>
            <a:pPr marL="688975" lvl="1" indent="-342900">
              <a:buFont typeface="Wingdings" pitchFamily="2" charset="2"/>
              <a:buChar char="Ø"/>
            </a:pPr>
            <a:r>
              <a:rPr lang="en-CA" b="1" dirty="0"/>
              <a:t>Elite Equity Tax Exemption: </a:t>
            </a:r>
            <a:r>
              <a:rPr lang="en-CA" dirty="0"/>
              <a:t>Significantly lower the capital gains tax on stock options for Principal-level AI engineers. We must make building wealth in Canada mathematically competitive with Silicon Valley.</a:t>
            </a:r>
          </a:p>
          <a:p>
            <a:pPr marL="688975" lvl="1" indent="-342900">
              <a:buFont typeface="Wingdings" pitchFamily="2" charset="2"/>
              <a:buChar char="Ø"/>
            </a:pPr>
            <a:r>
              <a:rPr lang="en-CA" b="1" dirty="0"/>
              <a:t>1:1 Salary Matching</a:t>
            </a:r>
            <a:r>
              <a:rPr lang="en-CA" dirty="0"/>
              <a:t>: If a Canadian AI firm commits to raising a top engineer’s base salary by 20%, the government matches it 1:1 through immediate, targeted R&amp;D tax credits to shatter the compensation ceiling.</a:t>
            </a:r>
          </a:p>
          <a:p>
            <a:pPr marL="688975" lvl="1" indent="-342900">
              <a:buFont typeface="Wingdings" pitchFamily="2" charset="2"/>
              <a:buChar char="Ø"/>
            </a:pPr>
            <a:r>
              <a:rPr lang="en-CA" b="1" dirty="0"/>
              <a:t>The "AI Elite" Fast-Track Visa</a:t>
            </a:r>
            <a:r>
              <a:rPr lang="en-CA" dirty="0"/>
              <a:t>: Implement instant, frictionless permanent residency (PR) and open work permits for top-tier global AI engineers and specialized graduates to easily anchor their lives in Canada.</a:t>
            </a:r>
          </a:p>
          <a:p>
            <a:endParaRPr lang="en-US" dirty="0"/>
          </a:p>
        </p:txBody>
      </p:sp>
      <p:sp>
        <p:nvSpPr>
          <p:cNvPr id="4" name="Content Placeholder 3">
            <a:extLst>
              <a:ext uri="{FF2B5EF4-FFF2-40B4-BE49-F238E27FC236}">
                <a16:creationId xmlns:a16="http://schemas.microsoft.com/office/drawing/2014/main" id="{82EA4FD2-9979-AB58-6766-42EAE2CBFBB1}"/>
              </a:ext>
            </a:extLst>
          </p:cNvPr>
          <p:cNvSpPr>
            <a:spLocks noGrp="1"/>
          </p:cNvSpPr>
          <p:nvPr>
            <p:ph sz="half" idx="2"/>
          </p:nvPr>
        </p:nvSpPr>
        <p:spPr/>
        <p:txBody>
          <a:bodyPr>
            <a:normAutofit fontScale="62500" lnSpcReduction="20000"/>
          </a:bodyPr>
          <a:lstStyle/>
          <a:p>
            <a:r>
              <a:rPr lang="en-CA" b="1" dirty="0"/>
              <a:t>The Mechanism:</a:t>
            </a:r>
            <a:r>
              <a:rPr lang="en-CA" dirty="0"/>
              <a:t> Execute by aggressively modernizing existing programs:</a:t>
            </a:r>
          </a:p>
          <a:p>
            <a:pPr lvl="1">
              <a:buFont typeface="Wingdings" pitchFamily="2" charset="2"/>
              <a:buChar char="Ø"/>
            </a:pPr>
            <a:r>
              <a:rPr lang="en-CA" dirty="0"/>
              <a:t>Repurpose the existing SR&amp;ED (R&amp;D) </a:t>
            </a:r>
            <a:r>
              <a:rPr lang="en-CA" b="1" dirty="0"/>
              <a:t>tax credit pools </a:t>
            </a:r>
            <a:r>
              <a:rPr lang="en-CA" dirty="0"/>
              <a:t>to specifically target the salary matching.</a:t>
            </a:r>
          </a:p>
          <a:p>
            <a:pPr lvl="1">
              <a:buFont typeface="Wingdings" pitchFamily="2" charset="2"/>
              <a:buChar char="Ø"/>
            </a:pPr>
            <a:r>
              <a:rPr lang="en-CA" dirty="0"/>
              <a:t>Reallocate portions of the</a:t>
            </a:r>
            <a:r>
              <a:rPr lang="en-CA" b="1" dirty="0"/>
              <a:t> $200M AI Adoption </a:t>
            </a:r>
            <a:r>
              <a:rPr lang="en-CA" dirty="0"/>
              <a:t>Fund (Budget 2024) to directly subsidize human capital</a:t>
            </a:r>
            <a:endParaRPr lang="en-CA" b="1" dirty="0"/>
          </a:p>
          <a:p>
            <a:r>
              <a:rPr lang="en-CA" b="1" dirty="0"/>
              <a:t>Execution &amp; Accountability :</a:t>
            </a:r>
          </a:p>
          <a:p>
            <a:pPr marL="688975" lvl="1" indent="-342900">
              <a:buFont typeface="Wingdings" pitchFamily="2" charset="2"/>
              <a:buChar char="ü"/>
            </a:pPr>
            <a:r>
              <a:rPr lang="en-CA" b="1" dirty="0"/>
              <a:t>Agile Rollout: </a:t>
            </a:r>
            <a:r>
              <a:rPr lang="en-CA" dirty="0"/>
              <a:t>Bypass slow government approvals. Pre-qualify high-growth AI companies to instantly issue these tax and visa benefits to their top hires.</a:t>
            </a:r>
          </a:p>
          <a:p>
            <a:pPr marL="688975" lvl="1" indent="-342900">
              <a:buFont typeface="Wingdings" pitchFamily="2" charset="2"/>
              <a:buChar char="ü"/>
            </a:pPr>
            <a:r>
              <a:rPr lang="en-CA" b="1" dirty="0"/>
              <a:t>The Metric: </a:t>
            </a:r>
            <a:r>
              <a:rPr lang="en-CA" dirty="0"/>
              <a:t>Subsidized companies MUST maintain core AI team attrition below 15% over a 24- 36month window.</a:t>
            </a:r>
          </a:p>
          <a:p>
            <a:pPr marL="688975" lvl="1" indent="-342900">
              <a:buFont typeface="Wingdings" pitchFamily="2" charset="2"/>
              <a:buChar char="ü"/>
            </a:pPr>
            <a:r>
              <a:rPr lang="en-CA" b="1" dirty="0"/>
              <a:t>The </a:t>
            </a:r>
            <a:r>
              <a:rPr lang="en-CA" b="1" dirty="0" err="1"/>
              <a:t>Clawback</a:t>
            </a:r>
            <a:r>
              <a:rPr lang="en-CA" b="1" dirty="0"/>
              <a:t>: </a:t>
            </a:r>
            <a:r>
              <a:rPr lang="en-CA" dirty="0"/>
              <a:t>Annual independent audits. If a subsidized engineer relocates to the US, it triggers immediate funding suspension and full </a:t>
            </a:r>
            <a:r>
              <a:rPr lang="en-CA" dirty="0" err="1"/>
              <a:t>clawbacks</a:t>
            </a:r>
            <a:r>
              <a:rPr lang="en-CA" dirty="0"/>
              <a:t> of the tax subsidy.</a:t>
            </a:r>
          </a:p>
          <a:p>
            <a:endParaRPr lang="en-CA" dirty="0"/>
          </a:p>
          <a:p>
            <a:endParaRPr lang="en-US" dirty="0"/>
          </a:p>
        </p:txBody>
      </p:sp>
      <p:sp>
        <p:nvSpPr>
          <p:cNvPr id="5" name="Slide Number Placeholder 4">
            <a:extLst>
              <a:ext uri="{FF2B5EF4-FFF2-40B4-BE49-F238E27FC236}">
                <a16:creationId xmlns:a16="http://schemas.microsoft.com/office/drawing/2014/main" id="{B0811EB1-E3CB-3381-360B-81811647BA72}"/>
              </a:ext>
            </a:extLst>
          </p:cNvPr>
          <p:cNvSpPr>
            <a:spLocks noGrp="1"/>
          </p:cNvSpPr>
          <p:nvPr>
            <p:ph type="sldNum" sz="quarter" idx="12"/>
          </p:nvPr>
        </p:nvSpPr>
        <p:spPr/>
        <p:txBody>
          <a:bodyPr/>
          <a:lstStyle/>
          <a:p>
            <a:fld id="{1BD90C89-BB05-D647-8C9B-C2376028CB3D}" type="slidenum">
              <a:rPr lang="en-CA" smtClean="0"/>
              <a:t>3</a:t>
            </a:fld>
            <a:endParaRPr lang="en-CA"/>
          </a:p>
        </p:txBody>
      </p:sp>
      <p:pic>
        <p:nvPicPr>
          <p:cNvPr id="6" name="Graphic 5">
            <a:extLst>
              <a:ext uri="{FF2B5EF4-FFF2-40B4-BE49-F238E27FC236}">
                <a16:creationId xmlns:a16="http://schemas.microsoft.com/office/drawing/2014/main" id="{14757B2C-2727-BD9F-9226-7A8CB77728B8}"/>
              </a:ext>
            </a:extLst>
          </p:cNvPr>
          <p:cNvPicPr>
            <a:picLocks noChangeAspect="1"/>
          </p:cNvPicPr>
          <p:nvPr/>
        </p:nvPicPr>
        <p:blipFill>
          <a:blip r:embed="rId3"/>
          <a:srcRect/>
          <a:stretch/>
        </p:blipFill>
        <p:spPr>
          <a:xfrm>
            <a:off x="9987202" y="441325"/>
            <a:ext cx="915068" cy="915068"/>
          </a:xfrm>
          <a:prstGeom prst="ellipse">
            <a:avLst/>
          </a:prstGeom>
          <a:solidFill>
            <a:schemeClr val="accent1"/>
          </a:solidFill>
        </p:spPr>
      </p:pic>
    </p:spTree>
    <p:extLst>
      <p:ext uri="{BB962C8B-B14F-4D97-AF65-F5344CB8AC3E}">
        <p14:creationId xmlns:p14="http://schemas.microsoft.com/office/powerpoint/2010/main" val="8548432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24B50E-D428-30BA-6F56-096B229DF5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58E07A-3428-CFB3-755F-C460CA6F8D87}"/>
              </a:ext>
            </a:extLst>
          </p:cNvPr>
          <p:cNvSpPr>
            <a:spLocks noGrp="1"/>
          </p:cNvSpPr>
          <p:nvPr>
            <p:ph type="ctrTitle"/>
          </p:nvPr>
        </p:nvSpPr>
        <p:spPr/>
        <p:txBody>
          <a:bodyPr/>
          <a:lstStyle/>
          <a:p>
            <a:r>
              <a:rPr lang="en-CA" dirty="0"/>
              <a:t>PROBLEM AND RECOMMENDATION -2</a:t>
            </a:r>
          </a:p>
        </p:txBody>
      </p:sp>
      <p:sp>
        <p:nvSpPr>
          <p:cNvPr id="3" name="Subtitle 2">
            <a:extLst>
              <a:ext uri="{FF2B5EF4-FFF2-40B4-BE49-F238E27FC236}">
                <a16:creationId xmlns:a16="http://schemas.microsoft.com/office/drawing/2014/main" id="{8B1BD778-C056-5700-1C60-D86DFFBE3742}"/>
              </a:ext>
            </a:extLst>
          </p:cNvPr>
          <p:cNvSpPr>
            <a:spLocks noGrp="1"/>
          </p:cNvSpPr>
          <p:nvPr>
            <p:ph type="subTitle" idx="1"/>
          </p:nvPr>
        </p:nvSpPr>
        <p:spPr/>
        <p:txBody>
          <a:bodyPr/>
          <a:lstStyle/>
          <a:p>
            <a:endParaRPr lang="en-CA" dirty="0"/>
          </a:p>
        </p:txBody>
      </p:sp>
    </p:spTree>
    <p:extLst>
      <p:ext uri="{BB962C8B-B14F-4D97-AF65-F5344CB8AC3E}">
        <p14:creationId xmlns:p14="http://schemas.microsoft.com/office/powerpoint/2010/main" val="3995395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EF3EC4-95BB-73EC-670C-928C6BF828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61F7A7-0FCA-7755-95BD-3B9AA7D27CD8}"/>
              </a:ext>
            </a:extLst>
          </p:cNvPr>
          <p:cNvSpPr>
            <a:spLocks noGrp="1"/>
          </p:cNvSpPr>
          <p:nvPr>
            <p:ph type="title"/>
          </p:nvPr>
        </p:nvSpPr>
        <p:spPr>
          <a:xfrm>
            <a:off x="381000" y="441325"/>
            <a:ext cx="10718799" cy="989849"/>
          </a:xfrm>
        </p:spPr>
        <p:txBody>
          <a:bodyPr vert="horz" lIns="91440" tIns="45720" rIns="91440" bIns="45720" rtlCol="0" anchor="t">
            <a:normAutofit fontScale="90000"/>
          </a:bodyPr>
          <a:lstStyle/>
          <a:p>
            <a:r>
              <a:rPr lang="en-CA" dirty="0"/>
              <a:t>Problem 2 - The Commercialization "Valley of Death”</a:t>
            </a:r>
            <a:br>
              <a:rPr lang="en-CA" dirty="0"/>
            </a:br>
            <a:r>
              <a:rPr lang="en-CA" sz="2200" b="0" dirty="0"/>
              <a:t>Canada’s AI weakness is not research creation, but domestic commercialization and scale</a:t>
            </a:r>
            <a:endParaRPr lang="en-US" b="0" dirty="0"/>
          </a:p>
        </p:txBody>
      </p:sp>
      <p:sp>
        <p:nvSpPr>
          <p:cNvPr id="3" name="Content Placeholder 2">
            <a:extLst>
              <a:ext uri="{FF2B5EF4-FFF2-40B4-BE49-F238E27FC236}">
                <a16:creationId xmlns:a16="http://schemas.microsoft.com/office/drawing/2014/main" id="{71597927-A639-DAA0-C0AA-19A52AD64096}"/>
              </a:ext>
            </a:extLst>
          </p:cNvPr>
          <p:cNvSpPr>
            <a:spLocks noGrp="1"/>
          </p:cNvSpPr>
          <p:nvPr>
            <p:ph idx="1"/>
          </p:nvPr>
        </p:nvSpPr>
        <p:spPr>
          <a:xfrm>
            <a:off x="482600" y="1431174"/>
            <a:ext cx="9758680" cy="4176713"/>
          </a:xfrm>
        </p:spPr>
        <p:txBody>
          <a:bodyPr/>
          <a:lstStyle/>
          <a:p>
            <a:pPr marL="0" indent="0">
              <a:buNone/>
            </a:pPr>
            <a:r>
              <a:rPr lang="en-CA" sz="1600" dirty="0"/>
              <a:t>Canada has built world-class AI talent and research institutions, but it has not built equally strong conditions to scale AI firms at home. As a result, the country generates upstream innovation but captures too little downstream economic value.</a:t>
            </a:r>
            <a:br>
              <a:rPr lang="en-CA" dirty="0"/>
            </a:br>
            <a:endParaRPr lang="en-US" dirty="0"/>
          </a:p>
        </p:txBody>
      </p:sp>
      <p:sp>
        <p:nvSpPr>
          <p:cNvPr id="4" name="Slide Number Placeholder 3">
            <a:extLst>
              <a:ext uri="{FF2B5EF4-FFF2-40B4-BE49-F238E27FC236}">
                <a16:creationId xmlns:a16="http://schemas.microsoft.com/office/drawing/2014/main" id="{0CCC85DF-E081-C888-B462-0C74FA894B0F}"/>
              </a:ext>
            </a:extLst>
          </p:cNvPr>
          <p:cNvSpPr>
            <a:spLocks noGrp="1"/>
          </p:cNvSpPr>
          <p:nvPr>
            <p:ph type="sldNum" sz="quarter" idx="12"/>
          </p:nvPr>
        </p:nvSpPr>
        <p:spPr/>
        <p:txBody>
          <a:bodyPr/>
          <a:lstStyle/>
          <a:p>
            <a:fld id="{1BD90C89-BB05-D647-8C9B-C2376028CB3D}" type="slidenum">
              <a:rPr lang="en-CA" smtClean="0"/>
              <a:t>5</a:t>
            </a:fld>
            <a:endParaRPr lang="en-CA"/>
          </a:p>
        </p:txBody>
      </p:sp>
      <p:sp>
        <p:nvSpPr>
          <p:cNvPr id="7" name="TextBox 6">
            <a:extLst>
              <a:ext uri="{FF2B5EF4-FFF2-40B4-BE49-F238E27FC236}">
                <a16:creationId xmlns:a16="http://schemas.microsoft.com/office/drawing/2014/main" id="{C26F6AC4-AA34-A456-8ACF-699F02A6BE67}"/>
              </a:ext>
            </a:extLst>
          </p:cNvPr>
          <p:cNvSpPr txBox="1"/>
          <p:nvPr/>
        </p:nvSpPr>
        <p:spPr>
          <a:xfrm>
            <a:off x="482600" y="2416477"/>
            <a:ext cx="6211174" cy="883832"/>
          </a:xfrm>
          <a:prstGeom prst="rect">
            <a:avLst/>
          </a:prstGeom>
        </p:spPr>
        <p:txBody>
          <a:bodyPr vert="horz" lIns="91440" tIns="45720" rIns="91440" bIns="45720" rtlCol="0">
            <a:normAutofit lnSpcReduction="10000"/>
          </a:bodyPr>
          <a:lstStyle>
            <a:lvl1pPr indent="0">
              <a:lnSpc>
                <a:spcPct val="110000"/>
              </a:lnSpc>
              <a:spcBef>
                <a:spcPts val="1600"/>
              </a:spcBef>
              <a:buFont typeface="Arial" panose="020B0604020202020204" pitchFamily="34" charset="0"/>
              <a:buNone/>
              <a:tabLst/>
              <a:defRPr sz="1600"/>
            </a:lvl1pPr>
            <a:lvl2pPr marL="519113" indent="-176213">
              <a:lnSpc>
                <a:spcPct val="110000"/>
              </a:lnSpc>
              <a:spcBef>
                <a:spcPts val="800"/>
              </a:spcBef>
              <a:buSzPct val="85000"/>
              <a:buFont typeface="System Font Regular"/>
              <a:buChar char="⚬"/>
              <a:tabLst/>
              <a:defRPr sz="1400"/>
            </a:lvl2pPr>
            <a:lvl3pPr marL="862013" indent="-168275">
              <a:lnSpc>
                <a:spcPct val="110000"/>
              </a:lnSpc>
              <a:spcBef>
                <a:spcPts val="500"/>
              </a:spcBef>
              <a:buFont typeface="System Font Regular"/>
              <a:buChar char="⁃"/>
              <a:tabLst/>
              <a:defRPr sz="1200"/>
            </a:lvl3pPr>
            <a:lvl4pPr marL="1262063" indent="-174625">
              <a:lnSpc>
                <a:spcPct val="110000"/>
              </a:lnSpc>
              <a:spcBef>
                <a:spcPts val="500"/>
              </a:spcBef>
              <a:buFont typeface="System Font Regular"/>
              <a:buChar char="⁃"/>
              <a:tabLst/>
              <a:defRPr sz="1200"/>
            </a:lvl4pPr>
            <a:lvl5pPr marL="1662113" indent="-168275">
              <a:lnSpc>
                <a:spcPct val="110000"/>
              </a:lnSpc>
              <a:spcBef>
                <a:spcPts val="500"/>
              </a:spcBef>
              <a:buFont typeface="System Font Regular"/>
              <a:buChar char="⁃"/>
              <a:tabLst/>
              <a:defRPr sz="1200"/>
            </a:lvl5pPr>
            <a:lvl6pPr marL="1662113" indent="-168275">
              <a:lnSpc>
                <a:spcPct val="90000"/>
              </a:lnSpc>
              <a:spcBef>
                <a:spcPts val="500"/>
              </a:spcBef>
              <a:buFont typeface="System Font Regular"/>
              <a:buChar char="⁃"/>
              <a:tabLst/>
              <a:defRPr sz="1200"/>
            </a:lvl6pPr>
            <a:lvl7pPr marL="1662113" indent="-168275">
              <a:lnSpc>
                <a:spcPct val="90000"/>
              </a:lnSpc>
              <a:spcBef>
                <a:spcPts val="500"/>
              </a:spcBef>
              <a:buFont typeface="System Font Regular"/>
              <a:buChar char="⁃"/>
              <a:tabLst/>
              <a:defRPr sz="1200"/>
            </a:lvl7pPr>
            <a:lvl8pPr marL="1662113" indent="-168275">
              <a:lnSpc>
                <a:spcPct val="90000"/>
              </a:lnSpc>
              <a:spcBef>
                <a:spcPts val="500"/>
              </a:spcBef>
              <a:buFont typeface="System Font Regular"/>
              <a:buChar char="⁃"/>
              <a:tabLst/>
              <a:defRPr sz="1200"/>
            </a:lvl8pPr>
            <a:lvl9pPr marL="1662113" indent="-168275">
              <a:lnSpc>
                <a:spcPct val="90000"/>
              </a:lnSpc>
              <a:spcBef>
                <a:spcPts val="500"/>
              </a:spcBef>
              <a:buFont typeface="System Font Regular"/>
              <a:buChar char="⁃"/>
              <a:tabLst/>
              <a:defRPr sz="1200"/>
            </a:lvl9pPr>
          </a:lstStyle>
          <a:p>
            <a:pPr marL="285750" indent="-285750">
              <a:buFont typeface="Wingdings" pitchFamily="2" charset="2"/>
              <a:buChar char="Ø"/>
            </a:pPr>
            <a:r>
              <a:rPr lang="en-CA" dirty="0"/>
              <a:t>Commercialization pathways remain weak. Many firms can prove technical feasibility, but struggle to convert pilots into repeatable customer adoption and revenue growth.</a:t>
            </a:r>
            <a:endParaRPr lang="en-US" dirty="0"/>
          </a:p>
        </p:txBody>
      </p:sp>
      <p:sp>
        <p:nvSpPr>
          <p:cNvPr id="9" name="TextBox 8">
            <a:extLst>
              <a:ext uri="{FF2B5EF4-FFF2-40B4-BE49-F238E27FC236}">
                <a16:creationId xmlns:a16="http://schemas.microsoft.com/office/drawing/2014/main" id="{18BCCB7A-73AB-DAB4-E15A-9A03448C56D6}"/>
              </a:ext>
            </a:extLst>
          </p:cNvPr>
          <p:cNvSpPr txBox="1"/>
          <p:nvPr/>
        </p:nvSpPr>
        <p:spPr>
          <a:xfrm>
            <a:off x="482600" y="4115660"/>
            <a:ext cx="6061891" cy="1630703"/>
          </a:xfrm>
          <a:prstGeom prst="rect">
            <a:avLst/>
          </a:prstGeom>
        </p:spPr>
        <p:txBody>
          <a:bodyPr vert="horz" lIns="91440" tIns="45720" rIns="91440" bIns="45720" rtlCol="0">
            <a:normAutofit/>
          </a:bodyPr>
          <a:lstStyle>
            <a:defPPr>
              <a:defRPr lang="en-US"/>
            </a:defPPr>
            <a:lvl1pPr marL="285750" indent="-285750">
              <a:lnSpc>
                <a:spcPct val="110000"/>
              </a:lnSpc>
              <a:spcBef>
                <a:spcPts val="1600"/>
              </a:spcBef>
              <a:buFont typeface="Wingdings" pitchFamily="2" charset="2"/>
              <a:buChar char="Ø"/>
              <a:tabLst/>
              <a:defRPr sz="1600"/>
            </a:lvl1pPr>
            <a:lvl2pPr marL="519113" indent="-176213">
              <a:lnSpc>
                <a:spcPct val="110000"/>
              </a:lnSpc>
              <a:spcBef>
                <a:spcPts val="800"/>
              </a:spcBef>
              <a:buSzPct val="85000"/>
              <a:buFont typeface="System Font Regular"/>
              <a:buChar char="⚬"/>
              <a:tabLst/>
              <a:defRPr sz="1400"/>
            </a:lvl2pPr>
            <a:lvl3pPr marL="862013" indent="-168275">
              <a:lnSpc>
                <a:spcPct val="110000"/>
              </a:lnSpc>
              <a:spcBef>
                <a:spcPts val="500"/>
              </a:spcBef>
              <a:buFont typeface="System Font Regular"/>
              <a:buChar char="⁃"/>
              <a:tabLst/>
              <a:defRPr sz="1200"/>
            </a:lvl3pPr>
            <a:lvl4pPr marL="1262063" indent="-174625">
              <a:lnSpc>
                <a:spcPct val="110000"/>
              </a:lnSpc>
              <a:spcBef>
                <a:spcPts val="500"/>
              </a:spcBef>
              <a:buFont typeface="System Font Regular"/>
              <a:buChar char="⁃"/>
              <a:tabLst/>
              <a:defRPr sz="1200"/>
            </a:lvl4pPr>
            <a:lvl5pPr marL="1662113" indent="-168275">
              <a:lnSpc>
                <a:spcPct val="110000"/>
              </a:lnSpc>
              <a:spcBef>
                <a:spcPts val="500"/>
              </a:spcBef>
              <a:buFont typeface="System Font Regular"/>
              <a:buChar char="⁃"/>
              <a:tabLst/>
              <a:defRPr sz="1200"/>
            </a:lvl5pPr>
            <a:lvl6pPr marL="1662113" indent="-168275">
              <a:lnSpc>
                <a:spcPct val="90000"/>
              </a:lnSpc>
              <a:spcBef>
                <a:spcPts val="500"/>
              </a:spcBef>
              <a:buFont typeface="System Font Regular"/>
              <a:buChar char="⁃"/>
              <a:tabLst/>
              <a:defRPr sz="1200"/>
            </a:lvl6pPr>
            <a:lvl7pPr marL="1662113" indent="-168275">
              <a:lnSpc>
                <a:spcPct val="90000"/>
              </a:lnSpc>
              <a:spcBef>
                <a:spcPts val="500"/>
              </a:spcBef>
              <a:buFont typeface="System Font Regular"/>
              <a:buChar char="⁃"/>
              <a:tabLst/>
              <a:defRPr sz="1200"/>
            </a:lvl7pPr>
            <a:lvl8pPr marL="1662113" indent="-168275">
              <a:lnSpc>
                <a:spcPct val="90000"/>
              </a:lnSpc>
              <a:spcBef>
                <a:spcPts val="500"/>
              </a:spcBef>
              <a:buFont typeface="System Font Regular"/>
              <a:buChar char="⁃"/>
              <a:tabLst/>
              <a:defRPr sz="1200"/>
            </a:lvl8pPr>
            <a:lvl9pPr marL="1662113" indent="-168275">
              <a:lnSpc>
                <a:spcPct val="90000"/>
              </a:lnSpc>
              <a:spcBef>
                <a:spcPts val="500"/>
              </a:spcBef>
              <a:buFont typeface="System Font Regular"/>
              <a:buChar char="⁃"/>
              <a:tabLst/>
              <a:defRPr sz="1200"/>
            </a:lvl9pPr>
          </a:lstStyle>
          <a:p>
            <a:r>
              <a:rPr lang="en-CA" dirty="0"/>
              <a:t>Compute access remains constrained. Domestic firms face limited access to the infrastructure needed to train, deploy, and iterate AI systems at scale.</a:t>
            </a:r>
            <a:br>
              <a:rPr lang="en-CA" dirty="0"/>
            </a:br>
            <a:endParaRPr lang="en-US" dirty="0"/>
          </a:p>
        </p:txBody>
      </p:sp>
      <p:pic>
        <p:nvPicPr>
          <p:cNvPr id="17" name="Graphic 16">
            <a:extLst>
              <a:ext uri="{FF2B5EF4-FFF2-40B4-BE49-F238E27FC236}">
                <a16:creationId xmlns:a16="http://schemas.microsoft.com/office/drawing/2014/main" id="{1F76569F-5F89-088F-AA3C-D25F010B48B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359445" y="2162014"/>
            <a:ext cx="5305545" cy="3713881"/>
          </a:xfrm>
          <a:prstGeom prst="rect">
            <a:avLst/>
          </a:prstGeom>
        </p:spPr>
      </p:pic>
      <p:sp>
        <p:nvSpPr>
          <p:cNvPr id="11" name="TextBox 10">
            <a:extLst>
              <a:ext uri="{FF2B5EF4-FFF2-40B4-BE49-F238E27FC236}">
                <a16:creationId xmlns:a16="http://schemas.microsoft.com/office/drawing/2014/main" id="{2A85DC2A-CAC8-4CA7-C016-6E0640D588EC}"/>
              </a:ext>
            </a:extLst>
          </p:cNvPr>
          <p:cNvSpPr txBox="1"/>
          <p:nvPr/>
        </p:nvSpPr>
        <p:spPr>
          <a:xfrm>
            <a:off x="482600" y="3300309"/>
            <a:ext cx="6211174" cy="1630703"/>
          </a:xfrm>
          <a:prstGeom prst="rect">
            <a:avLst/>
          </a:prstGeom>
        </p:spPr>
        <p:txBody>
          <a:bodyPr vert="horz" lIns="91440" tIns="45720" rIns="91440" bIns="45720" rtlCol="0">
            <a:normAutofit/>
          </a:bodyPr>
          <a:lstStyle>
            <a:defPPr>
              <a:defRPr lang="en-US"/>
            </a:defPPr>
            <a:lvl1pPr marL="285750" indent="-285750">
              <a:lnSpc>
                <a:spcPct val="110000"/>
              </a:lnSpc>
              <a:spcBef>
                <a:spcPts val="1600"/>
              </a:spcBef>
              <a:buFont typeface="Wingdings" pitchFamily="2" charset="2"/>
              <a:buChar char="Ø"/>
              <a:tabLst/>
              <a:defRPr sz="1600"/>
            </a:lvl1pPr>
            <a:lvl2pPr marL="519113" indent="-176213">
              <a:lnSpc>
                <a:spcPct val="110000"/>
              </a:lnSpc>
              <a:spcBef>
                <a:spcPts val="800"/>
              </a:spcBef>
              <a:buSzPct val="85000"/>
              <a:buFont typeface="System Font Regular"/>
              <a:buChar char="⚬"/>
              <a:tabLst/>
              <a:defRPr sz="1400"/>
            </a:lvl2pPr>
            <a:lvl3pPr marL="862013" indent="-168275">
              <a:lnSpc>
                <a:spcPct val="110000"/>
              </a:lnSpc>
              <a:spcBef>
                <a:spcPts val="500"/>
              </a:spcBef>
              <a:buFont typeface="System Font Regular"/>
              <a:buChar char="⁃"/>
              <a:tabLst/>
              <a:defRPr sz="1200"/>
            </a:lvl3pPr>
            <a:lvl4pPr marL="1262063" indent="-174625">
              <a:lnSpc>
                <a:spcPct val="110000"/>
              </a:lnSpc>
              <a:spcBef>
                <a:spcPts val="500"/>
              </a:spcBef>
              <a:buFont typeface="System Font Regular"/>
              <a:buChar char="⁃"/>
              <a:tabLst/>
              <a:defRPr sz="1200"/>
            </a:lvl4pPr>
            <a:lvl5pPr marL="1662113" indent="-168275">
              <a:lnSpc>
                <a:spcPct val="110000"/>
              </a:lnSpc>
              <a:spcBef>
                <a:spcPts val="500"/>
              </a:spcBef>
              <a:buFont typeface="System Font Regular"/>
              <a:buChar char="⁃"/>
              <a:tabLst/>
              <a:defRPr sz="1200"/>
            </a:lvl5pPr>
            <a:lvl6pPr marL="1662113" indent="-168275">
              <a:lnSpc>
                <a:spcPct val="90000"/>
              </a:lnSpc>
              <a:spcBef>
                <a:spcPts val="500"/>
              </a:spcBef>
              <a:buFont typeface="System Font Regular"/>
              <a:buChar char="⁃"/>
              <a:tabLst/>
              <a:defRPr sz="1200"/>
            </a:lvl6pPr>
            <a:lvl7pPr marL="1662113" indent="-168275">
              <a:lnSpc>
                <a:spcPct val="90000"/>
              </a:lnSpc>
              <a:spcBef>
                <a:spcPts val="500"/>
              </a:spcBef>
              <a:buFont typeface="System Font Regular"/>
              <a:buChar char="⁃"/>
              <a:tabLst/>
              <a:defRPr sz="1200"/>
            </a:lvl7pPr>
            <a:lvl8pPr marL="1662113" indent="-168275">
              <a:lnSpc>
                <a:spcPct val="90000"/>
              </a:lnSpc>
              <a:spcBef>
                <a:spcPts val="500"/>
              </a:spcBef>
              <a:buFont typeface="System Font Regular"/>
              <a:buChar char="⁃"/>
              <a:tabLst/>
              <a:defRPr sz="1200"/>
            </a:lvl8pPr>
            <a:lvl9pPr marL="1662113" indent="-168275">
              <a:lnSpc>
                <a:spcPct val="90000"/>
              </a:lnSpc>
              <a:spcBef>
                <a:spcPts val="500"/>
              </a:spcBef>
              <a:buFont typeface="System Font Regular"/>
              <a:buChar char="⁃"/>
              <a:tabLst/>
              <a:defRPr sz="1200"/>
            </a:lvl9pPr>
          </a:lstStyle>
          <a:p>
            <a:r>
              <a:rPr lang="en-CA" dirty="0"/>
              <a:t>Compute access remains constrained. Domestic firms face limited access to the infrastructure needed to train, deploy, and iterate AI systems at scale.</a:t>
            </a:r>
            <a:br>
              <a:rPr lang="en-CA" dirty="0"/>
            </a:br>
            <a:endParaRPr lang="en-US" dirty="0"/>
          </a:p>
        </p:txBody>
      </p:sp>
      <p:sp>
        <p:nvSpPr>
          <p:cNvPr id="18" name="TextBox 17">
            <a:extLst>
              <a:ext uri="{FF2B5EF4-FFF2-40B4-BE49-F238E27FC236}">
                <a16:creationId xmlns:a16="http://schemas.microsoft.com/office/drawing/2014/main" id="{BA7AFCD5-98C6-CAAE-5458-DBD935C00AD0}"/>
              </a:ext>
            </a:extLst>
          </p:cNvPr>
          <p:cNvSpPr txBox="1"/>
          <p:nvPr/>
        </p:nvSpPr>
        <p:spPr>
          <a:xfrm>
            <a:off x="6635790" y="5875895"/>
            <a:ext cx="5029200" cy="430887"/>
          </a:xfrm>
          <a:prstGeom prst="rect">
            <a:avLst/>
          </a:prstGeom>
          <a:noFill/>
        </p:spPr>
        <p:txBody>
          <a:bodyPr wrap="square">
            <a:spAutoFit/>
          </a:bodyPr>
          <a:lstStyle/>
          <a:p>
            <a:r>
              <a:rPr lang="en-CA" sz="1100" b="0" i="1" dirty="0">
                <a:effectLst/>
                <a:latin typeface="pplxSans"/>
              </a:rPr>
              <a:t>Source: </a:t>
            </a:r>
            <a:r>
              <a:rPr lang="en-CA" sz="1100" i="1" dirty="0">
                <a:latin typeface="pplxSans"/>
              </a:rPr>
              <a:t>Stanford HAI AI Index Report 2024 | Vector Institute Analysis (Cumulative Capital Estimates 2024-2026)</a:t>
            </a:r>
            <a:endParaRPr lang="en-US" sz="1100" i="1" dirty="0">
              <a:latin typeface="pplxSans"/>
            </a:endParaRPr>
          </a:p>
        </p:txBody>
      </p:sp>
    </p:spTree>
    <p:extLst>
      <p:ext uri="{BB962C8B-B14F-4D97-AF65-F5344CB8AC3E}">
        <p14:creationId xmlns:p14="http://schemas.microsoft.com/office/powerpoint/2010/main" val="41256389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CB4E93-AC79-9D39-1D01-BE152BFE11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D90FA7-E7FB-D8A4-9911-E659299D1326}"/>
              </a:ext>
            </a:extLst>
          </p:cNvPr>
          <p:cNvSpPr>
            <a:spLocks noGrp="1"/>
          </p:cNvSpPr>
          <p:nvPr>
            <p:ph type="title"/>
          </p:nvPr>
        </p:nvSpPr>
        <p:spPr>
          <a:xfrm>
            <a:off x="381001" y="441325"/>
            <a:ext cx="9964782" cy="989849"/>
          </a:xfrm>
        </p:spPr>
        <p:txBody>
          <a:bodyPr>
            <a:normAutofit fontScale="90000"/>
          </a:bodyPr>
          <a:lstStyle/>
          <a:p>
            <a:r>
              <a:rPr lang="en-CA" dirty="0"/>
              <a:t>Recommendation 2 - Build the Conditions to Scale AI in Canada</a:t>
            </a:r>
            <a:br>
              <a:rPr lang="en-CA" dirty="0"/>
            </a:br>
            <a:r>
              <a:rPr lang="en-CA" sz="2400" b="0" dirty="0"/>
              <a:t>Target: Problem 2 (</a:t>
            </a:r>
            <a:r>
              <a:rPr lang="en-CA" sz="2400" dirty="0"/>
              <a:t>The Commercialization "Valley of Death”</a:t>
            </a:r>
            <a:r>
              <a:rPr lang="en-CA" sz="2400" b="0" dirty="0"/>
              <a:t>)</a:t>
            </a:r>
            <a:endParaRPr lang="en-US" b="0" dirty="0"/>
          </a:p>
        </p:txBody>
      </p:sp>
      <p:sp>
        <p:nvSpPr>
          <p:cNvPr id="3" name="Content Placeholder 2">
            <a:extLst>
              <a:ext uri="{FF2B5EF4-FFF2-40B4-BE49-F238E27FC236}">
                <a16:creationId xmlns:a16="http://schemas.microsoft.com/office/drawing/2014/main" id="{658B0FE4-DFCA-9A4B-1E7B-1E1300F703CF}"/>
              </a:ext>
            </a:extLst>
          </p:cNvPr>
          <p:cNvSpPr>
            <a:spLocks noGrp="1"/>
          </p:cNvSpPr>
          <p:nvPr>
            <p:ph sz="half" idx="1"/>
          </p:nvPr>
        </p:nvSpPr>
        <p:spPr>
          <a:xfrm>
            <a:off x="596900" y="1592263"/>
            <a:ext cx="4786313" cy="4176712"/>
          </a:xfrm>
        </p:spPr>
        <p:txBody>
          <a:bodyPr>
            <a:noAutofit/>
          </a:bodyPr>
          <a:lstStyle/>
          <a:p>
            <a:r>
              <a:rPr lang="en-CA" b="1" dirty="0"/>
              <a:t>THE OBJECTIVE:</a:t>
            </a:r>
            <a:r>
              <a:rPr lang="en-CA" dirty="0"/>
              <a:t> Turn AI research into AI companies. Shift focus from upstream creation to capturing </a:t>
            </a:r>
            <a:r>
              <a:rPr lang="en-CA" b="1" dirty="0"/>
              <a:t>downstream economic value</a:t>
            </a:r>
            <a:r>
              <a:rPr lang="en-CA" dirty="0"/>
              <a:t> via domestic scaling.</a:t>
            </a:r>
          </a:p>
          <a:p>
            <a:r>
              <a:rPr lang="en-CA" b="1" dirty="0"/>
              <a:t>Action Items:</a:t>
            </a:r>
            <a:endParaRPr lang="en-CA" dirty="0"/>
          </a:p>
          <a:p>
            <a:pPr lvl="1">
              <a:buFont typeface="Wingdings" pitchFamily="2" charset="2"/>
              <a:buChar char="Ø"/>
            </a:pPr>
            <a:r>
              <a:rPr lang="en-CA" b="1" dirty="0"/>
              <a:t>Expand Compute:</a:t>
            </a:r>
            <a:r>
              <a:rPr lang="en-CA" dirty="0"/>
              <a:t> Provide local builders prioritized, affordable access to high-performance infrastructure.</a:t>
            </a:r>
          </a:p>
          <a:p>
            <a:pPr lvl="1">
              <a:buFont typeface="Wingdings" pitchFamily="2" charset="2"/>
              <a:buChar char="Ø"/>
            </a:pPr>
            <a:r>
              <a:rPr lang="en-CA" b="1" dirty="0"/>
              <a:t>Accelerate Adoption:</a:t>
            </a:r>
            <a:r>
              <a:rPr lang="en-CA" dirty="0"/>
              <a:t> Use procurement and SME programs to convert AI pilots into </a:t>
            </a:r>
            <a:r>
              <a:rPr lang="en-CA" b="1" dirty="0"/>
              <a:t>repeatable revenue</a:t>
            </a:r>
            <a:r>
              <a:rPr lang="en-CA" dirty="0"/>
              <a:t>.</a:t>
            </a:r>
          </a:p>
          <a:p>
            <a:pPr lvl="1">
              <a:buFont typeface="Wingdings" pitchFamily="2" charset="2"/>
              <a:buChar char="Ø"/>
            </a:pPr>
            <a:r>
              <a:rPr lang="en-CA" b="1" dirty="0"/>
              <a:t>Strengthen Scale-up:</a:t>
            </a:r>
            <a:r>
              <a:rPr lang="en-CA" dirty="0"/>
              <a:t> Retain growth-stage firms through better enterprise access and later-stage capital.</a:t>
            </a:r>
          </a:p>
          <a:p>
            <a:endParaRPr lang="en-CA" dirty="0"/>
          </a:p>
        </p:txBody>
      </p:sp>
      <p:sp>
        <p:nvSpPr>
          <p:cNvPr id="4" name="Content Placeholder 3">
            <a:extLst>
              <a:ext uri="{FF2B5EF4-FFF2-40B4-BE49-F238E27FC236}">
                <a16:creationId xmlns:a16="http://schemas.microsoft.com/office/drawing/2014/main" id="{E5F71192-2774-8DCB-400A-714964AD62DF}"/>
              </a:ext>
            </a:extLst>
          </p:cNvPr>
          <p:cNvSpPr>
            <a:spLocks noGrp="1"/>
          </p:cNvSpPr>
          <p:nvPr>
            <p:ph sz="half" idx="2"/>
          </p:nvPr>
        </p:nvSpPr>
        <p:spPr>
          <a:xfrm>
            <a:off x="6096000" y="1592263"/>
            <a:ext cx="5232400" cy="4376738"/>
          </a:xfrm>
        </p:spPr>
        <p:txBody>
          <a:bodyPr>
            <a:normAutofit fontScale="70000" lnSpcReduction="20000"/>
          </a:bodyPr>
          <a:lstStyle/>
          <a:p>
            <a:r>
              <a:rPr lang="en-CA" sz="2800" b="1" dirty="0"/>
              <a:t>The Mechanism:</a:t>
            </a:r>
            <a:r>
              <a:rPr lang="en-CA" sz="2800" dirty="0"/>
              <a:t> Repurpose Budget 2024 capital directly into commercialization, bypassing slow grants:</a:t>
            </a:r>
          </a:p>
          <a:p>
            <a:pPr lvl="1">
              <a:buFont typeface="Wingdings" pitchFamily="2" charset="2"/>
              <a:buChar char="Ø"/>
            </a:pPr>
            <a:r>
              <a:rPr lang="en-CA" sz="2500" b="1" dirty="0"/>
              <a:t>Compute ($2B Fund):</a:t>
            </a:r>
            <a:r>
              <a:rPr lang="en-CA" sz="2500" dirty="0"/>
              <a:t> Deploy as direct utilization subsidies for </a:t>
            </a:r>
            <a:r>
              <a:rPr lang="en-CA" sz="2500" b="1" dirty="0"/>
              <a:t>domestic firms</a:t>
            </a:r>
            <a:r>
              <a:rPr lang="en-CA" sz="2500" dirty="0"/>
              <a:t>, rather than building state-owned infrastructure.</a:t>
            </a:r>
          </a:p>
          <a:p>
            <a:pPr lvl="1">
              <a:buFont typeface="Wingdings" pitchFamily="2" charset="2"/>
              <a:buChar char="Ø"/>
            </a:pPr>
            <a:r>
              <a:rPr lang="en-CA" sz="2500" b="1" dirty="0"/>
              <a:t>Adoption ($200M RDA Fund):</a:t>
            </a:r>
            <a:r>
              <a:rPr lang="en-CA" sz="2500" dirty="0"/>
              <a:t> Ring-fence strictly for </a:t>
            </a:r>
            <a:r>
              <a:rPr lang="en-CA" sz="2500" b="1" dirty="0"/>
              <a:t>B2B procurement matching</a:t>
            </a:r>
            <a:r>
              <a:rPr lang="en-CA" sz="2500" dirty="0"/>
              <a:t>—paying traditional industries to buy local AI.</a:t>
            </a:r>
          </a:p>
          <a:p>
            <a:r>
              <a:rPr lang="en-CA" sz="2800" b="1" dirty="0"/>
              <a:t>Execution &amp; Accountability:</a:t>
            </a:r>
            <a:endParaRPr lang="en-CA" sz="2800" dirty="0"/>
          </a:p>
          <a:p>
            <a:pPr lvl="1">
              <a:buFont typeface="Wingdings" pitchFamily="2" charset="2"/>
              <a:buChar char="ü"/>
            </a:pPr>
            <a:r>
              <a:rPr lang="en-CA" sz="2500" b="1" dirty="0"/>
              <a:t>The Metric:</a:t>
            </a:r>
            <a:r>
              <a:rPr lang="en-CA" sz="2500" dirty="0"/>
              <a:t> Government "buy and adopt" programs MUST enforce a conversion mandate: </a:t>
            </a:r>
            <a:r>
              <a:rPr lang="en-CA" sz="2500" b="1" dirty="0"/>
              <a:t>&gt;50%</a:t>
            </a:r>
            <a:r>
              <a:rPr lang="en-CA" sz="2500" dirty="0"/>
              <a:t> of subsidized pilots must become commercial contracts within 18 months.</a:t>
            </a:r>
          </a:p>
          <a:p>
            <a:pPr lvl="1">
              <a:buFont typeface="Wingdings" pitchFamily="2" charset="2"/>
              <a:buChar char="ü"/>
            </a:pPr>
            <a:r>
              <a:rPr lang="en-CA" sz="2500" b="1" dirty="0"/>
              <a:t>The </a:t>
            </a:r>
            <a:r>
              <a:rPr lang="en-CA" sz="2500" b="1" dirty="0" err="1"/>
              <a:t>Clawback</a:t>
            </a:r>
            <a:r>
              <a:rPr lang="en-CA" sz="2500" b="1" dirty="0"/>
              <a:t>:</a:t>
            </a:r>
            <a:r>
              <a:rPr lang="en-CA" sz="2500" dirty="0"/>
              <a:t> Annual audits. Relocating HQ or core IP out of Canada triggers immediate and </a:t>
            </a:r>
            <a:r>
              <a:rPr lang="en-CA" sz="2500" b="1" dirty="0"/>
              <a:t>full funding </a:t>
            </a:r>
            <a:r>
              <a:rPr lang="en-CA" sz="2500" b="1" dirty="0" err="1"/>
              <a:t>clawbacks</a:t>
            </a:r>
            <a:r>
              <a:rPr lang="en-CA" sz="2500" dirty="0"/>
              <a:t>.</a:t>
            </a:r>
          </a:p>
          <a:p>
            <a:endParaRPr lang="en-CA" sz="2500" b="1" dirty="0"/>
          </a:p>
          <a:p>
            <a:endParaRPr lang="en-US" dirty="0"/>
          </a:p>
        </p:txBody>
      </p:sp>
      <p:sp>
        <p:nvSpPr>
          <p:cNvPr id="5" name="Slide Number Placeholder 4">
            <a:extLst>
              <a:ext uri="{FF2B5EF4-FFF2-40B4-BE49-F238E27FC236}">
                <a16:creationId xmlns:a16="http://schemas.microsoft.com/office/drawing/2014/main" id="{E1EF09BE-B652-AFFB-9C7E-F789541AC140}"/>
              </a:ext>
            </a:extLst>
          </p:cNvPr>
          <p:cNvSpPr>
            <a:spLocks noGrp="1"/>
          </p:cNvSpPr>
          <p:nvPr>
            <p:ph type="sldNum" sz="quarter" idx="12"/>
          </p:nvPr>
        </p:nvSpPr>
        <p:spPr/>
        <p:txBody>
          <a:bodyPr/>
          <a:lstStyle/>
          <a:p>
            <a:fld id="{1BD90C89-BB05-D647-8C9B-C2376028CB3D}" type="slidenum">
              <a:rPr lang="en-CA" smtClean="0"/>
              <a:t>6</a:t>
            </a:fld>
            <a:endParaRPr lang="en-CA"/>
          </a:p>
        </p:txBody>
      </p:sp>
      <p:pic>
        <p:nvPicPr>
          <p:cNvPr id="6" name="Picture 5">
            <a:extLst>
              <a:ext uri="{FF2B5EF4-FFF2-40B4-BE49-F238E27FC236}">
                <a16:creationId xmlns:a16="http://schemas.microsoft.com/office/drawing/2014/main" id="{4C80FFA2-D530-C201-16B0-8C4FCBEE904E}"/>
              </a:ext>
            </a:extLst>
          </p:cNvPr>
          <p:cNvPicPr>
            <a:picLocks noChangeAspect="1"/>
          </p:cNvPicPr>
          <p:nvPr/>
        </p:nvPicPr>
        <p:blipFill>
          <a:blip r:embed="rId3"/>
          <a:stretch>
            <a:fillRect/>
          </a:stretch>
        </p:blipFill>
        <p:spPr>
          <a:xfrm>
            <a:off x="10133932" y="363509"/>
            <a:ext cx="915068" cy="915068"/>
          </a:xfrm>
          <a:prstGeom prst="ellipse">
            <a:avLst/>
          </a:prstGeom>
          <a:solidFill>
            <a:schemeClr val="accent1"/>
          </a:solidFill>
        </p:spPr>
      </p:pic>
    </p:spTree>
    <p:extLst>
      <p:ext uri="{BB962C8B-B14F-4D97-AF65-F5344CB8AC3E}">
        <p14:creationId xmlns:p14="http://schemas.microsoft.com/office/powerpoint/2010/main" val="39290504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891E47-2D6D-065E-9C94-9331BE160DEC}"/>
              </a:ext>
            </a:extLst>
          </p:cNvPr>
          <p:cNvSpPr>
            <a:spLocks noGrp="1"/>
          </p:cNvSpPr>
          <p:nvPr>
            <p:ph type="title"/>
          </p:nvPr>
        </p:nvSpPr>
        <p:spPr/>
        <p:txBody>
          <a:bodyPr/>
          <a:lstStyle/>
          <a:p>
            <a:r>
              <a:rPr lang="en-CA" dirty="0"/>
              <a:t>REFERENCES</a:t>
            </a:r>
          </a:p>
        </p:txBody>
      </p:sp>
      <p:sp>
        <p:nvSpPr>
          <p:cNvPr id="3" name="Content Placeholder 2">
            <a:extLst>
              <a:ext uri="{FF2B5EF4-FFF2-40B4-BE49-F238E27FC236}">
                <a16:creationId xmlns:a16="http://schemas.microsoft.com/office/drawing/2014/main" id="{BA8F0C7E-2FAD-042A-1E25-FE9CA5176842}"/>
              </a:ext>
            </a:extLst>
          </p:cNvPr>
          <p:cNvSpPr>
            <a:spLocks noGrp="1"/>
          </p:cNvSpPr>
          <p:nvPr>
            <p:ph sz="half" idx="1"/>
          </p:nvPr>
        </p:nvSpPr>
        <p:spPr/>
        <p:txBody>
          <a:bodyPr/>
          <a:lstStyle/>
          <a:p>
            <a:r>
              <a:rPr lang="en-US" dirty="0">
                <a:hlinkClick r:id="rId2"/>
              </a:rPr>
              <a:t>https://ised-isde.canada.ca/site/ised/en/canadian-sovereign-ai-compute-strategy</a:t>
            </a:r>
            <a:endParaRPr lang="en-US" dirty="0"/>
          </a:p>
          <a:p>
            <a:r>
              <a:rPr lang="en-US" dirty="0"/>
              <a:t> </a:t>
            </a:r>
          </a:p>
          <a:p>
            <a:r>
              <a:rPr lang="en-US" dirty="0">
                <a:hlinkClick r:id="rId3"/>
              </a:rPr>
              <a:t>https://ised-isde.canada.ca/site/ised/en/sme-ai-adoption-blueprint</a:t>
            </a:r>
            <a:endParaRPr lang="en-US" dirty="0"/>
          </a:p>
          <a:p>
            <a:endParaRPr lang="en-CA" dirty="0"/>
          </a:p>
        </p:txBody>
      </p:sp>
    </p:spTree>
    <p:extLst>
      <p:ext uri="{BB962C8B-B14F-4D97-AF65-F5344CB8AC3E}">
        <p14:creationId xmlns:p14="http://schemas.microsoft.com/office/powerpoint/2010/main" val="5787387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1705</Words>
  <Application>Microsoft Office PowerPoint</Application>
  <PresentationFormat>Widescreen</PresentationFormat>
  <Paragraphs>71</Paragraphs>
  <Slides>7</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Aptos</vt:lpstr>
      <vt:lpstr>Aptos Display</vt:lpstr>
      <vt:lpstr>Arial</vt:lpstr>
      <vt:lpstr>pplxSans</vt:lpstr>
      <vt:lpstr>Wingdings</vt:lpstr>
      <vt:lpstr>Office Theme</vt:lpstr>
      <vt:lpstr>PROBLEM AND RECOMMENDATION -1</vt:lpstr>
      <vt:lpstr>Problem 1 -  Canada's AI Talent Paradox:  High Acquisition, Yet Critical Outflow to US Tech Hubs</vt:lpstr>
      <vt:lpstr>Recommendation 1 - Build Career Moats for Talent - Sam Target: Problem 1 (Canada's AI Talent Paradox)</vt:lpstr>
      <vt:lpstr>PROBLEM AND RECOMMENDATION -2</vt:lpstr>
      <vt:lpstr>Problem 2 - The Commercialization "Valley of Death” Canada’s AI weakness is not research creation, but domestic commercialization and scale</vt:lpstr>
      <vt:lpstr>Recommendation 2 - Build the Conditions to Scale AI in Canada Target: Problem 2 (The Commercialization "Valley of Death”)</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Daya Babu</dc:creator>
  <cp:lastModifiedBy>Daya Babu</cp:lastModifiedBy>
  <cp:revision>1</cp:revision>
  <dcterms:created xsi:type="dcterms:W3CDTF">2026-03-25T12:20:51Z</dcterms:created>
  <dcterms:modified xsi:type="dcterms:W3CDTF">2026-03-25T12:22:51Z</dcterms:modified>
</cp:coreProperties>
</file>